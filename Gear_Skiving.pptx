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01f19ee7-b2b4-490a-c98c-60a228d4b91a}">
          <p14:sldIdLst>
            <p14:sldId id="256"/>
            <p14:sldId id="257"/>
            <p14:sldId id="258"/>
          </p14:sldIdLst>
        </p14:section>
        <p14:section name="Teknoloji" id="{180ebc81-5faf-519e-894b-64f2571a5cac}">
          <p14:sldIdLst>
            <p14:sldId id="259"/>
            <p14:sldId id="260"/>
            <p14:sldId id="261"/>
          </p14:sldIdLst>
        </p14:section>
        <p14:section name="Değer" id="{02ff1369-ab08-8ce6-8bdd-fbfb01da86e5}">
          <p14:sldIdLst>
            <p14:sldId id="262"/>
            <p14:sldId id="263"/>
          </p14:sldIdLst>
        </p14:section>
        <p14:section name="Uygulama" id="{4975a80a-593e-4417-4b25-e4c5b9a9cd06}">
          <p14:sldIdLst>
            <p14:sldId id="264"/>
            <p14:sldId id="265"/>
            <p14:sldId id="266"/>
            <p14:sldId id="267"/>
            <p14:sldId id="268"/>
          </p14:sldIdLst>
        </p14:section>
        <p14:section name="Kapanış" id="{3e2b08fb-99c1-4244-2309-20e7c161ae82}">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8ECF2"/>
                </a:solidFill>
                <a:latin typeface="+mn-lt"/>
              </a:defRPr>
            </a:pPr>
            <a:r>
              <a:rPr sz="1400" b="0" i="0" u="none" strike="noStrike">
                <a:solidFill>
                  <a:srgbClr val="E8ECF2"/>
                </a:solidFill>
                <a:latin typeface="+mn-lt"/>
              </a:rPr>
              <a:t>Kesme hızı vc [m/dk]</a:t>
            </a:r>
          </a:p>
        </c:rich>
      </c:tx>
      <c:layout/>
      <c:overlay val="0"/>
    </c:title>
    <c:autoTitleDeleted val="0"/>
    <c:plotArea>
      <c:layout/>
      <c:lineChart>
        <c:varyColors val="0"/>
        <c:ser>
          <c:idx val="0"/>
          <c:order val="0"/>
          <c:tx>
            <c:strRef>
              <c:f>Sheet1!$B$1</c:f>
              <c:strCache>
                <c:ptCount val="1"/>
                <c:pt idx="0">
                  <c:v>vc</c:v>
                </c:pt>
              </c:strCache>
            </c:strRef>
          </c:tx>
          <c:spPr>
            <a:solidFill>
              <a:srgbClr val="FF6A1A"/>
            </a:solidFill>
            <a:ln w="38100" cap="flat">
              <a:solidFill>
                <a:srgbClr val="FF6A1A"/>
              </a:solidFill>
              <a:prstDash val="solid"/>
              <a:round/>
            </a:ln>
            <a:effectLst/>
          </c:spPr>
          <c:invertIfNegative val="0"/>
          <c:dLbls>
            <c:numFmt formatCode="#,##0" sourceLinked="0"/>
            <c:txPr>
              <a:bodyPr/>
              <a:lstStyle/>
              <a:p>
                <a:pPr>
                  <a:defRPr b="1" i="0" strike="noStrike" sz="1200" u="none">
                    <a:solidFill>
                      <a:srgbClr val="FFB347"/>
                    </a:solidFill>
                    <a:latin typeface="+mn-lt"/>
                  </a:defRPr>
                </a:pPr>
              </a:p>
            </c:txPr>
            <c:dLblPos val="t"/>
            <c:showLegendKey val="0"/>
            <c:showVal val="1"/>
            <c:showCatName val="0"/>
            <c:showSerName val="0"/>
            <c:showPercent val="0"/>
            <c:showBubbleSize val="0"/>
            <c:showLeaderLines val="0"/>
          </c:dLbls>
          <c:marker>
            <c:symbol val="circle"/>
            <c:size val="9"/>
            <c:spPr>
              <a:solidFill>
                <a:srgbClr val="FF6A1A"/>
              </a:solidFill>
              <a:ln w="9525" cap="flat">
                <a:solidFill>
                  <a:srgbClr val="FF6A1A"/>
                </a:solidFill>
                <a:prstDash val="solid"/>
                <a:round/>
              </a:ln>
              <a:effectLst/>
            </c:spPr>
          </c:marker>
          <c:cat>
            <c:multiLvlStrRef>
              <c:f>Sheet1!$A$2:$A$8</c:f>
              <c:multiLvlStrCache>
                <c:ptCount val="7"/>
                <c:lvl>
                  <c:pt idx="0">
                    <c:v>5°</c:v>
                  </c:pt>
                  <c:pt idx="1">
                    <c:v>10°</c:v>
                  </c:pt>
                  <c:pt idx="2">
                    <c:v>15°</c:v>
                  </c:pt>
                  <c:pt idx="3">
                    <c:v>20°</c:v>
                  </c:pt>
                  <c:pt idx="4">
                    <c:v>25°</c:v>
                  </c:pt>
                  <c:pt idx="5">
                    <c:v>30°</c:v>
                  </c:pt>
                  <c:pt idx="6">
                    <c:v>35°</c:v>
                  </c:pt>
                </c:lvl>
              </c:multiLvlStrCache>
            </c:multiLvlStrRef>
          </c:cat>
          <c:val>
            <c:numRef>
              <c:f>Sheet1!$B$2:$B$8</c:f>
              <c:numCache>
                <c:formatCode>General</c:formatCode>
                <c:ptCount val="7"/>
                <c:pt idx="0">
                  <c:v>27</c:v>
                </c:pt>
                <c:pt idx="1">
                  <c:v>55</c:v>
                </c:pt>
                <c:pt idx="2">
                  <c:v>84</c:v>
                </c:pt>
                <c:pt idx="3">
                  <c:v>114</c:v>
                </c:pt>
                <c:pt idx="4">
                  <c:v>146</c:v>
                </c:pt>
                <c:pt idx="5">
                  <c:v>181</c:v>
                </c:pt>
                <c:pt idx="6">
                  <c:v>220</c:v>
                </c:pt>
              </c:numCache>
            </c:numRef>
          </c:val>
          <c:smooth val="0"/>
        </c:ser>
        <c:dLbls>
          <c:numFmt formatCode="#,##0" sourceLinked="0"/>
          <c:txPr>
            <a:bodyPr/>
            <a:lstStyle/>
            <a:p>
              <a:pPr>
                <a:defRPr b="1" i="0" strike="noStrike" sz="1200" u="none">
                  <a:solidFill>
                    <a:srgbClr val="FFB347"/>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B8C2D6"/>
                    </a:solidFill>
                    <a:latin typeface="+mn-lt"/>
                  </a:defRPr>
                </a:pPr>
                <a:r>
                  <a:rPr sz="1200" b="0" i="0" u="none" strike="noStrike">
                    <a:solidFill>
                      <a:srgbClr val="B8C2D6"/>
                    </a:solidFill>
                    <a:latin typeface="+mn-lt"/>
                  </a:rPr>
                  <a:t>Eksen çapraz açısı Σ</a:t>
                </a:r>
              </a:p>
            </c:rich>
          </c:tx>
          <c:layout/>
          <c:overlay val="0"/>
        </c:title>
        <c:numFmt formatCode="General" sourceLinked="1"/>
        <c:majorTickMark val="out"/>
        <c:minorTickMark val="none"/>
        <c:tickLblPos val="low"/>
        <c:spPr>
          <a:ln w="12700" cap="flat">
            <a:solidFill>
              <a:srgbClr val="3A4766"/>
            </a:solidFill>
            <a:prstDash val="solid"/>
            <a:round/>
          </a:ln>
        </c:spPr>
        <c:txPr>
          <a:bodyPr/>
          <a:lstStyle/>
          <a:p>
            <a:pPr>
              <a:defRPr sz="1200" b="0" i="0" u="none" strike="noStrike">
                <a:solidFill>
                  <a:srgbClr val="B8C2D6"/>
                </a:solidFill>
                <a:latin typeface="+mn-lt"/>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6350" cap="flat">
              <a:solidFill>
                <a:srgbClr val="2A355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B8C2D6"/>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Gear skiving (power skiving), azdırmanın sürekli yuvarlanma verimini vargelin iç dişli kabiliyetiyle birleştiren bir dişli açma yöntemidir. Bu sunumda prensibi, tarihçesi, avantajları, gereksinimleri ve uygulama alanlarını ele alacağız.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Altı başlık: prensip, tarihçe, avantajlar, diğer yöntemlerle karşılaştırma, takım ve tezgah gereksinimleri, uygulama alanları.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Skiving'i en kolay azdırma ve vargelin kesişimi olarak anlatabiliriz: azdırma gibi sürekli bir yuvarlanma hareketi var, ama vargel gibi iç dişlileri ve omuza yakın dişleri de açabiliyor. Kesme hareketi ayrı bir strok değil, eksen çapraz açısından doğan kayma hızıdır.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Takım, dişli gibi davranır ve iş parçasıyla devir oranı diş sayıları oranında kilitlenir. Eksenler arasındaki Σ açısı nedeniyle temas noktasındaki iki çevresel hız vektörü farklı yönlere bakar; aradaki fark diş boyunca kayan kesme hızıdır. Düz dişli için bu fark yaklaşık vW çarpı tan Σ'dır.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vc ≈ vW · tan Σ ilişkisinden hesaplanmıştır: aynı iş mili devrinde açıyı büyütmek kesme hızını hızla artırır. Pratikte açı; takımın iş parçasına yerleşimi, çarpışma ve etkin talaş açısı gibi kısıtlarla birlikte seçilir.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Yöntem aslında çok eski: 1910'da Wilhelm von Pittler tarafından patentlendi. Ancak takım ile iş parçası arasındaki yüksek hızlı, hassas senkronizasyon ve gereken rijitlik o dönemin mekanik tezgahlarıyla sağlanamadı. Modern CNC ve kaplamalı takımlarla 2000'lerin sonunda geri döndü.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Çevrim süresi kazancı parçaya, modüle ve tezgaha göre değişir; vargele kıyasla birkaç kat kısalma tipiktir. En büyük kazanç çoğu zaman tek bağlamada torna ve dişli işlemlerinin birleşmesinden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Broşlama tek parça süresinde hâlâ rakipsiz, ancak parçaya özel pahalı takım ve kör delik kısıtı var. Vargel esnek ama yavaş. Azdırma iç dişliye uygun değil. Skiving bu boşluğu doldurur.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Skiving takımı genellikle iş parçasına özel tasarlanır. Takım geometrisi, eksen açısı ve diş sayısı birlikte optimize edilir. Etkin talaş açısının profil boyunca değişmesi, yöntemin en çok dikkat isteyen tarafıdır.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Skiving tezgahtan yüksek rijitlik ve çok hassas senkronizasyon ister. Özel tezgahlar seri üretimde öne çıkarken, torna-freze merkezleri tek bağlamada komple parça işleme avantajı sağlar. Birçok kontrol ve tezgah üreticisi hazır skiving döngüleri sunar.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Pratikte süreç dişli verisiyle başlar, takım tasarımı ve simülasyonla devam eder. Kesim genellikle birkaç radyal pasoda yapılır; ilk parçalar ölçülerek takım ve program düzeltilir.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güçlü itici güç e-mobilite: elektrikli araç şanzımanlarındaki planet sistemlerin halka dişlileri, skiving'in doğal hedefidir. Kamalı göbekler ve iç dişli kavrama parçaları da tipik uygulamalardır.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Skiving güçlü ama affetmeyen bir yöntem. Takım aşınması, titreşim ve talaş tahliyesi başlıca riskler. Çözümlerin çoğu tasarım aşamasında, takım ve strateji seçimiyle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 gear skiving hız, esneklik ve tek bağlama avantajını bir araya getiriyor. Sorularınızı alabilirim.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ING-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65960"/>
            <a:ext cx="6766560" cy="137160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640080" y="3429000"/>
            <a:ext cx="6035040" cy="10058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spc="200" kern="0" dirty="0">
                <a:solidFill>
                  <a:schemeClr val="accent4"/>
                </a:solidFill>
              </a:rPr>
              <a:t>GEAR SKIVING  ·  DİŞLİ İMALATINDA YENİ NESİL</a:t>
            </a:r>
            <a:endParaRPr lang="en-US" sz="10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08760"/>
            <a:ext cx="6949440" cy="23774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508760"/>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DİŞLİ İMALAT TEKNOLOJİLERİ</a:t>
            </a:r>
            <a:endParaRPr lang="en-US" sz="1200" dirty="0"/>
          </a:p>
        </p:txBody>
      </p:sp>
      <p:sp>
        <p:nvSpPr>
          <p:cNvPr id="3" name="Text 0"/>
          <p:cNvSpPr/>
          <p:nvPr>
            <p:ph idx="100" type="title" hasCustomPrompt="1"/>
          </p:nvPr>
        </p:nvSpPr>
        <p:spPr>
          <a:xfrm>
            <a:off x="640080" y="1965960"/>
            <a:ext cx="6766560" cy="1371600"/>
          </a:xfrm>
          <a:prstGeom prst="rect">
            <a:avLst/>
          </a:prstGeom>
          <a:noFill/>
          <a:ln/>
        </p:spPr>
        <p:txBody>
          <a:bodyPr wrap="square" lIns="0" tIns="0" rIns="0" bIns="0" rtlCol="0" anchor="t"/>
          <a:lstStyle/>
          <a:p>
            <a:pPr algn="l" indent="0" marL="0">
              <a:buNone/>
            </a:pPr>
            <a:r>
              <a:rPr lang="en-US" sz="6600" b="1" dirty="0">
                <a:solidFill>
                  <a:schemeClr val="bg1"/>
                </a:solidFill>
              </a:rPr>
              <a:t>Gear Skiving</a:t>
            </a:r>
            <a:endParaRPr lang="en-US" sz="6600" dirty="0"/>
          </a:p>
        </p:txBody>
      </p:sp>
      <p:sp>
        <p:nvSpPr>
          <p:cNvPr id="4" name="Text 0"/>
          <p:cNvSpPr/>
          <p:nvPr>
            <p:ph idx="101" type="body" hasCustomPrompt="1"/>
          </p:nvPr>
        </p:nvSpPr>
        <p:spPr>
          <a:xfrm>
            <a:off x="640080" y="3429000"/>
            <a:ext cx="6035040" cy="1005840"/>
          </a:xfrm>
          <a:prstGeom prst="rect">
            <a:avLst/>
          </a:prstGeom>
          <a:noFill/>
          <a:ln/>
        </p:spPr>
        <p:txBody>
          <a:bodyPr wrap="square" lIns="0" tIns="0" rIns="0" bIns="0" rtlCol="0" anchor="t"/>
          <a:lstStyle/>
          <a:p>
            <a:pPr indent="0" marL="0">
              <a:buNone/>
            </a:pPr>
            <a:r>
              <a:rPr lang="en-US" sz="2000" dirty="0">
                <a:solidFill>
                  <a:schemeClr val="bg2"/>
                </a:solidFill>
              </a:rPr>
              <a:t>Azdırma hızında, vargel esnekliğinde dişli: power skiving'in prensibi, avantajları ve uygulamaları</a:t>
            </a:r>
            <a:endParaRPr lang="en-US" sz="2000" dirty="0"/>
          </a:p>
        </p:txBody>
      </p:sp>
      <p:sp>
        <p:nvSpPr>
          <p:cNvPr id="5" name="chip İç dişli"/>
          <p:cNvSpPr/>
          <p:nvPr/>
        </p:nvSpPr>
        <p:spPr>
          <a:xfrm>
            <a:off x="640080" y="4754880"/>
            <a:ext cx="1417320" cy="420624"/>
          </a:xfrm>
          <a:prstGeom prst="roundRect">
            <a:avLst>
              <a:gd name="adj" fmla="val 50000"/>
            </a:avLst>
          </a:prstGeom>
          <a:solidFill>
            <a:schemeClr val="tx1">
              <a:alpha val="70000"/>
            </a:schemeClr>
          </a:solidFill>
          <a:ln w="15875">
            <a:solidFill>
              <a:schemeClr val="accent1"/>
            </a:solidFill>
            <a:prstDash val="solid"/>
          </a:ln>
        </p:spPr>
      </p:sp>
      <p:sp>
        <p:nvSpPr>
          <p:cNvPr id="6" name="chip-text İç dişli"/>
          <p:cNvSpPr txBox="1"/>
          <p:nvPr/>
        </p:nvSpPr>
        <p:spPr>
          <a:xfrm>
            <a:off x="640080" y="4754880"/>
            <a:ext cx="1417320" cy="420624"/>
          </a:xfrm>
          <a:prstGeom prst="rect">
            <a:avLst/>
          </a:prstGeom>
          <a:noFill/>
          <a:ln/>
        </p:spPr>
        <p:txBody>
          <a:bodyPr wrap="square" lIns="0" tIns="0" rIns="0" bIns="0" rtlCol="0" anchor="ctr"/>
          <a:lstStyle/>
          <a:p>
            <a:pPr algn="ctr" indent="0" marL="0">
              <a:buNone/>
            </a:pPr>
            <a:r>
              <a:rPr lang="en-US" sz="1400" b="1" dirty="0">
                <a:solidFill>
                  <a:schemeClr val="accent2"/>
                </a:solidFill>
              </a:rPr>
              <a:t>İç dişli</a:t>
            </a:r>
            <a:endParaRPr lang="en-US" sz="1400" dirty="0"/>
          </a:p>
        </p:txBody>
      </p:sp>
      <p:sp>
        <p:nvSpPr>
          <p:cNvPr id="7" name="chip Dış dişli"/>
          <p:cNvSpPr/>
          <p:nvPr/>
        </p:nvSpPr>
        <p:spPr>
          <a:xfrm>
            <a:off x="2240280" y="4754880"/>
            <a:ext cx="1417320" cy="420624"/>
          </a:xfrm>
          <a:prstGeom prst="roundRect">
            <a:avLst>
              <a:gd name="adj" fmla="val 50000"/>
            </a:avLst>
          </a:prstGeom>
          <a:solidFill>
            <a:schemeClr val="tx1">
              <a:alpha val="70000"/>
            </a:schemeClr>
          </a:solidFill>
          <a:ln w="15875">
            <a:solidFill>
              <a:schemeClr val="accent1"/>
            </a:solidFill>
            <a:prstDash val="solid"/>
          </a:ln>
        </p:spPr>
      </p:sp>
      <p:sp>
        <p:nvSpPr>
          <p:cNvPr id="8" name="chip-text Dış dişli"/>
          <p:cNvSpPr txBox="1"/>
          <p:nvPr/>
        </p:nvSpPr>
        <p:spPr>
          <a:xfrm>
            <a:off x="2240280" y="4754880"/>
            <a:ext cx="1417320" cy="420624"/>
          </a:xfrm>
          <a:prstGeom prst="rect">
            <a:avLst/>
          </a:prstGeom>
          <a:noFill/>
          <a:ln/>
        </p:spPr>
        <p:txBody>
          <a:bodyPr wrap="square" lIns="0" tIns="0" rIns="0" bIns="0" rtlCol="0" anchor="ctr"/>
          <a:lstStyle/>
          <a:p>
            <a:pPr algn="ctr" indent="0" marL="0">
              <a:buNone/>
            </a:pPr>
            <a:r>
              <a:rPr lang="en-US" sz="1400" b="1" dirty="0">
                <a:solidFill>
                  <a:schemeClr val="accent2"/>
                </a:solidFill>
              </a:rPr>
              <a:t>Dış dişli</a:t>
            </a:r>
            <a:endParaRPr lang="en-US" sz="1400" dirty="0"/>
          </a:p>
        </p:txBody>
      </p:sp>
      <p:sp>
        <p:nvSpPr>
          <p:cNvPr id="9" name="chip Tek bağlama"/>
          <p:cNvSpPr/>
          <p:nvPr/>
        </p:nvSpPr>
        <p:spPr>
          <a:xfrm>
            <a:off x="3840480" y="4754880"/>
            <a:ext cx="1417320" cy="420624"/>
          </a:xfrm>
          <a:prstGeom prst="roundRect">
            <a:avLst>
              <a:gd name="adj" fmla="val 50000"/>
            </a:avLst>
          </a:prstGeom>
          <a:solidFill>
            <a:schemeClr val="tx1">
              <a:alpha val="70000"/>
            </a:schemeClr>
          </a:solidFill>
          <a:ln w="15875">
            <a:solidFill>
              <a:schemeClr val="accent1"/>
            </a:solidFill>
            <a:prstDash val="solid"/>
          </a:ln>
        </p:spPr>
      </p:sp>
      <p:sp>
        <p:nvSpPr>
          <p:cNvPr id="10" name="chip-text Tek bağlama"/>
          <p:cNvSpPr txBox="1"/>
          <p:nvPr/>
        </p:nvSpPr>
        <p:spPr>
          <a:xfrm>
            <a:off x="3840480" y="4754880"/>
            <a:ext cx="1417320" cy="420624"/>
          </a:xfrm>
          <a:prstGeom prst="rect">
            <a:avLst/>
          </a:prstGeom>
          <a:noFill/>
          <a:ln/>
        </p:spPr>
        <p:txBody>
          <a:bodyPr wrap="square" lIns="0" tIns="0" rIns="0" bIns="0" rtlCol="0" anchor="ctr"/>
          <a:lstStyle/>
          <a:p>
            <a:pPr algn="ctr" indent="0" marL="0">
              <a:buNone/>
            </a:pPr>
            <a:r>
              <a:rPr lang="en-US" sz="1400" b="1" dirty="0">
                <a:solidFill>
                  <a:schemeClr val="accent2"/>
                </a:solidFill>
              </a:rPr>
              <a:t>Tek bağlama</a:t>
            </a:r>
            <a:endParaRPr lang="en-US" sz="1400" dirty="0"/>
          </a:p>
        </p:txBody>
      </p:sp>
      <p:sp>
        <p:nvSpPr>
          <p:cNvPr id="11" name="Text 9"/>
          <p:cNvSpPr txBox="1"/>
          <p:nvPr/>
        </p:nvSpPr>
        <p:spPr>
          <a:xfrm>
            <a:off x="640080" y="6035040"/>
            <a:ext cx="2743200" cy="274320"/>
          </a:xfrm>
          <a:prstGeom prst="rect">
            <a:avLst/>
          </a:prstGeom>
          <a:noFill/>
          <a:ln/>
        </p:spPr>
        <p:txBody>
          <a:bodyPr wrap="square" lIns="0" tIns="0" rIns="0" bIns="0" rtlCol="0" anchor="t"/>
          <a:lstStyle/>
          <a:p>
            <a:pPr indent="0" marL="0">
              <a:buNone/>
            </a:pPr>
            <a:r>
              <a:rPr lang="en-US" sz="1200" dirty="0">
                <a:solidFill>
                  <a:schemeClr val="accent4"/>
                </a:solidFill>
              </a:rPr>
              <a:t>Ekim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GÜNDEM</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Bugün neleri konuşacağız</a:t>
            </a:r>
            <a:endParaRPr lang="en-US" sz="3600" dirty="0"/>
          </a:p>
        </p:txBody>
      </p:sp>
      <p:sp>
        <p:nvSpPr>
          <p:cNvPr id="4" name="agenda-card 01"/>
          <p:cNvSpPr/>
          <p:nvPr/>
        </p:nvSpPr>
        <p:spPr>
          <a:xfrm>
            <a:off x="548640" y="1783080"/>
            <a:ext cx="3520440"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5" name="Text 3"/>
          <p:cNvSpPr txBox="1"/>
          <p:nvPr/>
        </p:nvSpPr>
        <p:spPr>
          <a:xfrm>
            <a:off x="868680" y="2057400"/>
            <a:ext cx="1371600" cy="685800"/>
          </a:xfrm>
          <a:prstGeom prst="rect">
            <a:avLst/>
          </a:prstGeom>
          <a:noFill/>
          <a:ln/>
        </p:spPr>
        <p:txBody>
          <a:bodyPr wrap="square" lIns="0" tIns="0" rIns="0" bIns="0" rtlCol="0" anchor="t"/>
          <a:lstStyle/>
          <a:p>
            <a:pPr indent="0" marL="0">
              <a:buNone/>
            </a:pPr>
            <a:r>
              <a:rPr lang="en-US" sz="4400" b="1" dirty="0">
                <a:solidFill>
                  <a:schemeClr val="accent1"/>
                </a:solidFill>
              </a:rPr>
              <a:t>01</a:t>
            </a:r>
            <a:endParaRPr lang="en-US" sz="4400" dirty="0"/>
          </a:p>
        </p:txBody>
      </p:sp>
      <p:sp>
        <p:nvSpPr>
          <p:cNvPr id="6" name="Text 4"/>
          <p:cNvSpPr txBox="1"/>
          <p:nvPr/>
        </p:nvSpPr>
        <p:spPr>
          <a:xfrm>
            <a:off x="868680" y="2788920"/>
            <a:ext cx="2880360" cy="411480"/>
          </a:xfrm>
          <a:prstGeom prst="rect">
            <a:avLst/>
          </a:prstGeom>
          <a:noFill/>
          <a:ln/>
        </p:spPr>
        <p:txBody>
          <a:bodyPr wrap="square" lIns="0" tIns="0" rIns="0" bIns="0" rtlCol="0" anchor="t"/>
          <a:lstStyle/>
          <a:p>
            <a:pPr indent="0" marL="0">
              <a:buNone/>
            </a:pPr>
            <a:r>
              <a:rPr lang="en-US" sz="2200" b="1" dirty="0">
                <a:solidFill>
                  <a:schemeClr val="bg1"/>
                </a:solidFill>
              </a:rPr>
              <a:t>Prensip</a:t>
            </a:r>
            <a:endParaRPr lang="en-US" sz="2200" dirty="0"/>
          </a:p>
        </p:txBody>
      </p:sp>
      <p:sp>
        <p:nvSpPr>
          <p:cNvPr id="7" name="Text 5"/>
          <p:cNvSpPr txBox="1"/>
          <p:nvPr/>
        </p:nvSpPr>
        <p:spPr>
          <a:xfrm>
            <a:off x="868680" y="3200400"/>
            <a:ext cx="2880360" cy="365760"/>
          </a:xfrm>
          <a:prstGeom prst="rect">
            <a:avLst/>
          </a:prstGeom>
          <a:noFill/>
          <a:ln/>
        </p:spPr>
        <p:txBody>
          <a:bodyPr wrap="square" lIns="0" tIns="0" rIns="0" bIns="0" rtlCol="0" anchor="t"/>
          <a:lstStyle/>
          <a:p>
            <a:pPr indent="0" marL="0">
              <a:buNone/>
            </a:pPr>
            <a:r>
              <a:rPr lang="en-US" sz="1500" dirty="0">
                <a:solidFill>
                  <a:schemeClr val="accent6"/>
                </a:solidFill>
              </a:rPr>
              <a:t>Kinematik ve eksen çapraz açısı</a:t>
            </a:r>
            <a:endParaRPr lang="en-US" sz="1500" dirty="0"/>
          </a:p>
        </p:txBody>
      </p:sp>
      <p:sp>
        <p:nvSpPr>
          <p:cNvPr id="8" name="agenda-card 02"/>
          <p:cNvSpPr/>
          <p:nvPr/>
        </p:nvSpPr>
        <p:spPr>
          <a:xfrm>
            <a:off x="4325112" y="1783080"/>
            <a:ext cx="3520440"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9" name="Text 7"/>
          <p:cNvSpPr txBox="1"/>
          <p:nvPr/>
        </p:nvSpPr>
        <p:spPr>
          <a:xfrm>
            <a:off x="4645152" y="2057400"/>
            <a:ext cx="1371600" cy="685800"/>
          </a:xfrm>
          <a:prstGeom prst="rect">
            <a:avLst/>
          </a:prstGeom>
          <a:noFill/>
          <a:ln/>
        </p:spPr>
        <p:txBody>
          <a:bodyPr wrap="square" lIns="0" tIns="0" rIns="0" bIns="0" rtlCol="0" anchor="t"/>
          <a:lstStyle/>
          <a:p>
            <a:pPr indent="0" marL="0">
              <a:buNone/>
            </a:pPr>
            <a:r>
              <a:rPr lang="en-US" sz="4400" b="1" dirty="0">
                <a:solidFill>
                  <a:schemeClr val="accent1"/>
                </a:solidFill>
              </a:rPr>
              <a:t>02</a:t>
            </a:r>
            <a:endParaRPr lang="en-US" sz="4400" dirty="0"/>
          </a:p>
        </p:txBody>
      </p:sp>
      <p:sp>
        <p:nvSpPr>
          <p:cNvPr id="10" name="Text 8"/>
          <p:cNvSpPr txBox="1"/>
          <p:nvPr/>
        </p:nvSpPr>
        <p:spPr>
          <a:xfrm>
            <a:off x="4645152" y="2788920"/>
            <a:ext cx="2880360" cy="411480"/>
          </a:xfrm>
          <a:prstGeom prst="rect">
            <a:avLst/>
          </a:prstGeom>
          <a:noFill/>
          <a:ln/>
        </p:spPr>
        <p:txBody>
          <a:bodyPr wrap="square" lIns="0" tIns="0" rIns="0" bIns="0" rtlCol="0" anchor="t"/>
          <a:lstStyle/>
          <a:p>
            <a:pPr indent="0" marL="0">
              <a:buNone/>
            </a:pPr>
            <a:r>
              <a:rPr lang="en-US" sz="2200" b="1" dirty="0">
                <a:solidFill>
                  <a:schemeClr val="bg1"/>
                </a:solidFill>
              </a:rPr>
              <a:t>Tarihçe</a:t>
            </a:r>
            <a:endParaRPr lang="en-US" sz="2200" dirty="0"/>
          </a:p>
        </p:txBody>
      </p:sp>
      <p:sp>
        <p:nvSpPr>
          <p:cNvPr id="11" name="Text 9"/>
          <p:cNvSpPr txBox="1"/>
          <p:nvPr/>
        </p:nvSpPr>
        <p:spPr>
          <a:xfrm>
            <a:off x="4645152" y="3200400"/>
            <a:ext cx="2880360" cy="365760"/>
          </a:xfrm>
          <a:prstGeom prst="rect">
            <a:avLst/>
          </a:prstGeom>
          <a:noFill/>
          <a:ln/>
        </p:spPr>
        <p:txBody>
          <a:bodyPr wrap="square" lIns="0" tIns="0" rIns="0" bIns="0" rtlCol="0" anchor="t"/>
          <a:lstStyle/>
          <a:p>
            <a:pPr indent="0" marL="0">
              <a:buNone/>
            </a:pPr>
            <a:r>
              <a:rPr lang="en-US" sz="1500" dirty="0">
                <a:solidFill>
                  <a:schemeClr val="accent6"/>
                </a:solidFill>
              </a:rPr>
              <a:t>1910 patentinden bugüne</a:t>
            </a:r>
            <a:endParaRPr lang="en-US" sz="1500" dirty="0"/>
          </a:p>
        </p:txBody>
      </p:sp>
      <p:sp>
        <p:nvSpPr>
          <p:cNvPr id="12" name="agenda-card 03"/>
          <p:cNvSpPr/>
          <p:nvPr/>
        </p:nvSpPr>
        <p:spPr>
          <a:xfrm>
            <a:off x="8101584" y="1783080"/>
            <a:ext cx="3520440"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3" name="Text 11"/>
          <p:cNvSpPr txBox="1"/>
          <p:nvPr/>
        </p:nvSpPr>
        <p:spPr>
          <a:xfrm>
            <a:off x="8421624" y="2057400"/>
            <a:ext cx="1371600" cy="685800"/>
          </a:xfrm>
          <a:prstGeom prst="rect">
            <a:avLst/>
          </a:prstGeom>
          <a:noFill/>
          <a:ln/>
        </p:spPr>
        <p:txBody>
          <a:bodyPr wrap="square" lIns="0" tIns="0" rIns="0" bIns="0" rtlCol="0" anchor="t"/>
          <a:lstStyle/>
          <a:p>
            <a:pPr indent="0" marL="0">
              <a:buNone/>
            </a:pPr>
            <a:r>
              <a:rPr lang="en-US" sz="4400" b="1" dirty="0">
                <a:solidFill>
                  <a:schemeClr val="accent1"/>
                </a:solidFill>
              </a:rPr>
              <a:t>03</a:t>
            </a:r>
            <a:endParaRPr lang="en-US" sz="4400" dirty="0"/>
          </a:p>
        </p:txBody>
      </p:sp>
      <p:sp>
        <p:nvSpPr>
          <p:cNvPr id="14" name="Text 12"/>
          <p:cNvSpPr txBox="1"/>
          <p:nvPr/>
        </p:nvSpPr>
        <p:spPr>
          <a:xfrm>
            <a:off x="8421624" y="2788920"/>
            <a:ext cx="2880360" cy="411480"/>
          </a:xfrm>
          <a:prstGeom prst="rect">
            <a:avLst/>
          </a:prstGeom>
          <a:noFill/>
          <a:ln/>
        </p:spPr>
        <p:txBody>
          <a:bodyPr wrap="square" lIns="0" tIns="0" rIns="0" bIns="0" rtlCol="0" anchor="t"/>
          <a:lstStyle/>
          <a:p>
            <a:pPr indent="0" marL="0">
              <a:buNone/>
            </a:pPr>
            <a:r>
              <a:rPr lang="en-US" sz="2200" b="1" dirty="0">
                <a:solidFill>
                  <a:schemeClr val="bg1"/>
                </a:solidFill>
              </a:rPr>
              <a:t>Avantajlar</a:t>
            </a:r>
            <a:endParaRPr lang="en-US" sz="2200" dirty="0"/>
          </a:p>
        </p:txBody>
      </p:sp>
      <p:sp>
        <p:nvSpPr>
          <p:cNvPr id="15" name="Text 13"/>
          <p:cNvSpPr txBox="1"/>
          <p:nvPr/>
        </p:nvSpPr>
        <p:spPr>
          <a:xfrm>
            <a:off x="8421624" y="3200400"/>
            <a:ext cx="2880360" cy="365760"/>
          </a:xfrm>
          <a:prstGeom prst="rect">
            <a:avLst/>
          </a:prstGeom>
          <a:noFill/>
          <a:ln/>
        </p:spPr>
        <p:txBody>
          <a:bodyPr wrap="square" lIns="0" tIns="0" rIns="0" bIns="0" rtlCol="0" anchor="t"/>
          <a:lstStyle/>
          <a:p>
            <a:pPr indent="0" marL="0">
              <a:buNone/>
            </a:pPr>
            <a:r>
              <a:rPr lang="en-US" sz="1500" dirty="0">
                <a:solidFill>
                  <a:schemeClr val="accent6"/>
                </a:solidFill>
              </a:rPr>
              <a:t>Hız, esneklik ve tek bağlama</a:t>
            </a:r>
            <a:endParaRPr lang="en-US" sz="1500" dirty="0"/>
          </a:p>
        </p:txBody>
      </p:sp>
      <p:sp>
        <p:nvSpPr>
          <p:cNvPr id="16" name="agenda-card 04"/>
          <p:cNvSpPr/>
          <p:nvPr/>
        </p:nvSpPr>
        <p:spPr>
          <a:xfrm>
            <a:off x="548640" y="4114800"/>
            <a:ext cx="3520440"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7" name="Text 15"/>
          <p:cNvSpPr txBox="1"/>
          <p:nvPr/>
        </p:nvSpPr>
        <p:spPr>
          <a:xfrm>
            <a:off x="868680" y="4389120"/>
            <a:ext cx="1371600" cy="685800"/>
          </a:xfrm>
          <a:prstGeom prst="rect">
            <a:avLst/>
          </a:prstGeom>
          <a:noFill/>
          <a:ln/>
        </p:spPr>
        <p:txBody>
          <a:bodyPr wrap="square" lIns="0" tIns="0" rIns="0" bIns="0" rtlCol="0" anchor="t"/>
          <a:lstStyle/>
          <a:p>
            <a:pPr indent="0" marL="0">
              <a:buNone/>
            </a:pPr>
            <a:r>
              <a:rPr lang="en-US" sz="4400" b="1" dirty="0">
                <a:solidFill>
                  <a:schemeClr val="accent1"/>
                </a:solidFill>
              </a:rPr>
              <a:t>04</a:t>
            </a:r>
            <a:endParaRPr lang="en-US" sz="4400" dirty="0"/>
          </a:p>
        </p:txBody>
      </p:sp>
      <p:sp>
        <p:nvSpPr>
          <p:cNvPr id="18" name="Text 16"/>
          <p:cNvSpPr txBox="1"/>
          <p:nvPr/>
        </p:nvSpPr>
        <p:spPr>
          <a:xfrm>
            <a:off x="868680" y="5120640"/>
            <a:ext cx="2880360" cy="411480"/>
          </a:xfrm>
          <a:prstGeom prst="rect">
            <a:avLst/>
          </a:prstGeom>
          <a:noFill/>
          <a:ln/>
        </p:spPr>
        <p:txBody>
          <a:bodyPr wrap="square" lIns="0" tIns="0" rIns="0" bIns="0" rtlCol="0" anchor="t"/>
          <a:lstStyle/>
          <a:p>
            <a:pPr indent="0" marL="0">
              <a:buNone/>
            </a:pPr>
            <a:r>
              <a:rPr lang="en-US" sz="2200" b="1" dirty="0">
                <a:solidFill>
                  <a:schemeClr val="bg1"/>
                </a:solidFill>
              </a:rPr>
              <a:t>Karşılaştırma</a:t>
            </a:r>
            <a:endParaRPr lang="en-US" sz="2200" dirty="0"/>
          </a:p>
        </p:txBody>
      </p:sp>
      <p:sp>
        <p:nvSpPr>
          <p:cNvPr id="19" name="Text 17"/>
          <p:cNvSpPr txBox="1"/>
          <p:nvPr/>
        </p:nvSpPr>
        <p:spPr>
          <a:xfrm>
            <a:off x="868680" y="5532120"/>
            <a:ext cx="2880360" cy="365760"/>
          </a:xfrm>
          <a:prstGeom prst="rect">
            <a:avLst/>
          </a:prstGeom>
          <a:noFill/>
          <a:ln/>
        </p:spPr>
        <p:txBody>
          <a:bodyPr wrap="square" lIns="0" tIns="0" rIns="0" bIns="0" rtlCol="0" anchor="t"/>
          <a:lstStyle/>
          <a:p>
            <a:pPr indent="0" marL="0">
              <a:buNone/>
            </a:pPr>
            <a:r>
              <a:rPr lang="en-US" sz="1500" dirty="0">
                <a:solidFill>
                  <a:schemeClr val="accent6"/>
                </a:solidFill>
              </a:rPr>
              <a:t>Azdırma, vargel ve broşlama</a:t>
            </a:r>
            <a:endParaRPr lang="en-US" sz="1500" dirty="0"/>
          </a:p>
        </p:txBody>
      </p:sp>
      <p:sp>
        <p:nvSpPr>
          <p:cNvPr id="20" name="agenda-card 05"/>
          <p:cNvSpPr/>
          <p:nvPr/>
        </p:nvSpPr>
        <p:spPr>
          <a:xfrm>
            <a:off x="4325112" y="4114800"/>
            <a:ext cx="3520440"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1" name="Text 19"/>
          <p:cNvSpPr txBox="1"/>
          <p:nvPr/>
        </p:nvSpPr>
        <p:spPr>
          <a:xfrm>
            <a:off x="4645152" y="4389120"/>
            <a:ext cx="1371600" cy="685800"/>
          </a:xfrm>
          <a:prstGeom prst="rect">
            <a:avLst/>
          </a:prstGeom>
          <a:noFill/>
          <a:ln/>
        </p:spPr>
        <p:txBody>
          <a:bodyPr wrap="square" lIns="0" tIns="0" rIns="0" bIns="0" rtlCol="0" anchor="t"/>
          <a:lstStyle/>
          <a:p>
            <a:pPr indent="0" marL="0">
              <a:buNone/>
            </a:pPr>
            <a:r>
              <a:rPr lang="en-US" sz="4400" b="1" dirty="0">
                <a:solidFill>
                  <a:schemeClr val="accent1"/>
                </a:solidFill>
              </a:rPr>
              <a:t>05</a:t>
            </a:r>
            <a:endParaRPr lang="en-US" sz="4400" dirty="0"/>
          </a:p>
        </p:txBody>
      </p:sp>
      <p:sp>
        <p:nvSpPr>
          <p:cNvPr id="22" name="Text 20"/>
          <p:cNvSpPr txBox="1"/>
          <p:nvPr/>
        </p:nvSpPr>
        <p:spPr>
          <a:xfrm>
            <a:off x="4645152" y="5120640"/>
            <a:ext cx="2880360" cy="411480"/>
          </a:xfrm>
          <a:prstGeom prst="rect">
            <a:avLst/>
          </a:prstGeom>
          <a:noFill/>
          <a:ln/>
        </p:spPr>
        <p:txBody>
          <a:bodyPr wrap="square" lIns="0" tIns="0" rIns="0" bIns="0" rtlCol="0" anchor="t"/>
          <a:lstStyle/>
          <a:p>
            <a:pPr indent="0" marL="0">
              <a:buNone/>
            </a:pPr>
            <a:r>
              <a:rPr lang="en-US" sz="2200" b="1" dirty="0">
                <a:solidFill>
                  <a:schemeClr val="bg1"/>
                </a:solidFill>
              </a:rPr>
              <a:t>Takım ve tezgah</a:t>
            </a:r>
            <a:endParaRPr lang="en-US" sz="2200" dirty="0"/>
          </a:p>
        </p:txBody>
      </p:sp>
      <p:sp>
        <p:nvSpPr>
          <p:cNvPr id="23" name="Text 21"/>
          <p:cNvSpPr txBox="1"/>
          <p:nvPr/>
        </p:nvSpPr>
        <p:spPr>
          <a:xfrm>
            <a:off x="4645152" y="5532120"/>
            <a:ext cx="2880360" cy="365760"/>
          </a:xfrm>
          <a:prstGeom prst="rect">
            <a:avLst/>
          </a:prstGeom>
          <a:noFill/>
          <a:ln/>
        </p:spPr>
        <p:txBody>
          <a:bodyPr wrap="square" lIns="0" tIns="0" rIns="0" bIns="0" rtlCol="0" anchor="t"/>
          <a:lstStyle/>
          <a:p>
            <a:pPr indent="0" marL="0">
              <a:buNone/>
            </a:pPr>
            <a:r>
              <a:rPr lang="en-US" sz="1500" dirty="0">
                <a:solidFill>
                  <a:schemeClr val="accent6"/>
                </a:solidFill>
              </a:rPr>
              <a:t>Başarı için gerekenler</a:t>
            </a:r>
            <a:endParaRPr lang="en-US" sz="1500" dirty="0"/>
          </a:p>
        </p:txBody>
      </p:sp>
      <p:sp>
        <p:nvSpPr>
          <p:cNvPr id="24" name="agenda-card 06"/>
          <p:cNvSpPr/>
          <p:nvPr/>
        </p:nvSpPr>
        <p:spPr>
          <a:xfrm>
            <a:off x="8101584" y="4114800"/>
            <a:ext cx="3520440"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5" name="Text 23"/>
          <p:cNvSpPr txBox="1"/>
          <p:nvPr/>
        </p:nvSpPr>
        <p:spPr>
          <a:xfrm>
            <a:off x="8421624" y="4389120"/>
            <a:ext cx="1371600" cy="685800"/>
          </a:xfrm>
          <a:prstGeom prst="rect">
            <a:avLst/>
          </a:prstGeom>
          <a:noFill/>
          <a:ln/>
        </p:spPr>
        <p:txBody>
          <a:bodyPr wrap="square" lIns="0" tIns="0" rIns="0" bIns="0" rtlCol="0" anchor="t"/>
          <a:lstStyle/>
          <a:p>
            <a:pPr indent="0" marL="0">
              <a:buNone/>
            </a:pPr>
            <a:r>
              <a:rPr lang="en-US" sz="4400" b="1" dirty="0">
                <a:solidFill>
                  <a:schemeClr val="accent1"/>
                </a:solidFill>
              </a:rPr>
              <a:t>06</a:t>
            </a:r>
            <a:endParaRPr lang="en-US" sz="4400" dirty="0"/>
          </a:p>
        </p:txBody>
      </p:sp>
      <p:sp>
        <p:nvSpPr>
          <p:cNvPr id="26" name="Text 24"/>
          <p:cNvSpPr txBox="1"/>
          <p:nvPr/>
        </p:nvSpPr>
        <p:spPr>
          <a:xfrm>
            <a:off x="8421624" y="5120640"/>
            <a:ext cx="2880360" cy="411480"/>
          </a:xfrm>
          <a:prstGeom prst="rect">
            <a:avLst/>
          </a:prstGeom>
          <a:noFill/>
          <a:ln/>
        </p:spPr>
        <p:txBody>
          <a:bodyPr wrap="square" lIns="0" tIns="0" rIns="0" bIns="0" rtlCol="0" anchor="t"/>
          <a:lstStyle/>
          <a:p>
            <a:pPr indent="0" marL="0">
              <a:buNone/>
            </a:pPr>
            <a:r>
              <a:rPr lang="en-US" sz="2200" b="1" dirty="0">
                <a:solidFill>
                  <a:schemeClr val="bg1"/>
                </a:solidFill>
              </a:rPr>
              <a:t>Uygulamalar</a:t>
            </a:r>
            <a:endParaRPr lang="en-US" sz="2200" dirty="0"/>
          </a:p>
        </p:txBody>
      </p:sp>
      <p:sp>
        <p:nvSpPr>
          <p:cNvPr id="27" name="Text 25"/>
          <p:cNvSpPr txBox="1"/>
          <p:nvPr/>
        </p:nvSpPr>
        <p:spPr>
          <a:xfrm>
            <a:off x="8421624" y="5532120"/>
            <a:ext cx="2880360" cy="365760"/>
          </a:xfrm>
          <a:prstGeom prst="rect">
            <a:avLst/>
          </a:prstGeom>
          <a:noFill/>
          <a:ln/>
        </p:spPr>
        <p:txBody>
          <a:bodyPr wrap="square" lIns="0" tIns="0" rIns="0" bIns="0" rtlCol="0" anchor="t"/>
          <a:lstStyle/>
          <a:p>
            <a:pPr indent="0" marL="0">
              <a:buNone/>
            </a:pPr>
            <a:r>
              <a:rPr lang="en-US" sz="1500" dirty="0">
                <a:solidFill>
                  <a:schemeClr val="accent6"/>
                </a:solidFill>
              </a:rPr>
              <a:t>Nerede fark yaratır?</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TEMEL KAVRAM</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Gear skiving nedir?</a:t>
            </a:r>
            <a:endParaRPr lang="en-US" sz="3600" dirty="0"/>
          </a:p>
        </p:txBody>
      </p:sp>
      <p:sp>
        <p:nvSpPr>
          <p:cNvPr id="4" name="eq-card Azdırma"/>
          <p:cNvSpPr/>
          <p:nvPr/>
        </p:nvSpPr>
        <p:spPr>
          <a:xfrm>
            <a:off x="548640" y="1783080"/>
            <a:ext cx="3154680" cy="1874520"/>
          </a:xfrm>
          <a:prstGeom prst="roundRect">
            <a:avLst>
              <a:gd name="adj" fmla="val 5854"/>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5" name="icon-circle FaRotate"/>
          <p:cNvSpPr/>
          <p:nvPr/>
        </p:nvSpPr>
        <p:spPr>
          <a:xfrm>
            <a:off x="868680" y="2057400"/>
            <a:ext cx="566928" cy="566928"/>
          </a:xfrm>
          <a:prstGeom prst="ellipse">
            <a:avLst/>
          </a:prstGeom>
          <a:solidFill>
            <a:schemeClr val="accent1"/>
          </a:solidFill>
          <a:ln w="12700">
            <a:solidFill>
              <a:schemeClr val="accent1"/>
            </a:solidFill>
            <a:prstDash val="solid"/>
          </a:ln>
        </p:spPr>
      </p:sp>
      <p:pic>
        <p:nvPicPr>
          <p:cNvPr id="6" name="icon FaRotate" descr="/home/claude/deck/assets/FaRotate-dark.png">    </p:cNvPr>
          <p:cNvPicPr>
            <a:picLocks noChangeAspect="1"/>
          </p:cNvPicPr>
          <p:nvPr/>
        </p:nvPicPr>
        <p:blipFill>
          <a:blip r:embed="rId1"/>
          <a:stretch>
            <a:fillRect/>
          </a:stretch>
        </p:blipFill>
        <p:spPr>
          <a:xfrm>
            <a:off x="1010412" y="2199132"/>
            <a:ext cx="283464" cy="283464"/>
          </a:xfrm>
          <a:prstGeom prst="rect">
            <a:avLst/>
          </a:prstGeom>
        </p:spPr>
      </p:pic>
      <p:sp>
        <p:nvSpPr>
          <p:cNvPr id="7" name="Text 4"/>
          <p:cNvSpPr txBox="1"/>
          <p:nvPr/>
        </p:nvSpPr>
        <p:spPr>
          <a:xfrm>
            <a:off x="868680" y="2743200"/>
            <a:ext cx="2697480" cy="411480"/>
          </a:xfrm>
          <a:prstGeom prst="rect">
            <a:avLst/>
          </a:prstGeom>
          <a:noFill/>
          <a:ln/>
        </p:spPr>
        <p:txBody>
          <a:bodyPr wrap="square" lIns="0" tIns="0" rIns="0" bIns="0" rtlCol="0" anchor="t"/>
          <a:lstStyle/>
          <a:p>
            <a:pPr indent="0" marL="0">
              <a:buNone/>
            </a:pPr>
            <a:r>
              <a:rPr lang="en-US" sz="2200" b="1" dirty="0">
                <a:solidFill>
                  <a:schemeClr val="bg1"/>
                </a:solidFill>
              </a:rPr>
              <a:t>Azdırma</a:t>
            </a:r>
            <a:endParaRPr lang="en-US" sz="2200" dirty="0"/>
          </a:p>
        </p:txBody>
      </p:sp>
      <p:sp>
        <p:nvSpPr>
          <p:cNvPr id="8" name="Text 5"/>
          <p:cNvSpPr txBox="1"/>
          <p:nvPr/>
        </p:nvSpPr>
        <p:spPr>
          <a:xfrm>
            <a:off x="868680" y="3154680"/>
            <a:ext cx="2606040" cy="365760"/>
          </a:xfrm>
          <a:prstGeom prst="rect">
            <a:avLst/>
          </a:prstGeom>
          <a:noFill/>
          <a:ln/>
        </p:spPr>
        <p:txBody>
          <a:bodyPr wrap="square" lIns="0" tIns="0" rIns="0" bIns="0" rtlCol="0" anchor="t"/>
          <a:lstStyle/>
          <a:p>
            <a:pPr indent="0" marL="0">
              <a:buNone/>
            </a:pPr>
            <a:r>
              <a:rPr lang="en-US" sz="1500" dirty="0">
                <a:solidFill>
                  <a:schemeClr val="accent6"/>
                </a:solidFill>
              </a:rPr>
              <a:t>Sürekli yuvarlanma, yüksek verim</a:t>
            </a:r>
            <a:endParaRPr lang="en-US" sz="1500" dirty="0"/>
          </a:p>
        </p:txBody>
      </p:sp>
      <p:sp>
        <p:nvSpPr>
          <p:cNvPr id="9" name="eq-card Vargel"/>
          <p:cNvSpPr/>
          <p:nvPr/>
        </p:nvSpPr>
        <p:spPr>
          <a:xfrm>
            <a:off x="4517136" y="1783080"/>
            <a:ext cx="3154680" cy="1874520"/>
          </a:xfrm>
          <a:prstGeom prst="roundRect">
            <a:avLst>
              <a:gd name="adj" fmla="val 5854"/>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0" name="icon-circle FaLayerGroup"/>
          <p:cNvSpPr/>
          <p:nvPr/>
        </p:nvSpPr>
        <p:spPr>
          <a:xfrm>
            <a:off x="4837176" y="2057400"/>
            <a:ext cx="566928" cy="566928"/>
          </a:xfrm>
          <a:prstGeom prst="ellipse">
            <a:avLst/>
          </a:prstGeom>
          <a:solidFill>
            <a:schemeClr val="accent1"/>
          </a:solidFill>
          <a:ln w="12700">
            <a:solidFill>
              <a:schemeClr val="accent1"/>
            </a:solidFill>
            <a:prstDash val="solid"/>
          </a:ln>
        </p:spPr>
      </p:sp>
      <p:pic>
        <p:nvPicPr>
          <p:cNvPr id="11" name="icon FaLayerGroup" descr="/home/claude/deck/assets/FaLayerGroup-dark.png">    </p:cNvPr>
          <p:cNvPicPr>
            <a:picLocks noChangeAspect="1"/>
          </p:cNvPicPr>
          <p:nvPr/>
        </p:nvPicPr>
        <p:blipFill>
          <a:blip r:embed="rId2"/>
          <a:stretch>
            <a:fillRect/>
          </a:stretch>
        </p:blipFill>
        <p:spPr>
          <a:xfrm>
            <a:off x="4978908" y="2199132"/>
            <a:ext cx="283464" cy="283464"/>
          </a:xfrm>
          <a:prstGeom prst="rect">
            <a:avLst/>
          </a:prstGeom>
        </p:spPr>
      </p:pic>
      <p:sp>
        <p:nvSpPr>
          <p:cNvPr id="12" name="Text 8"/>
          <p:cNvSpPr txBox="1"/>
          <p:nvPr/>
        </p:nvSpPr>
        <p:spPr>
          <a:xfrm>
            <a:off x="4837176" y="2743200"/>
            <a:ext cx="2697480" cy="411480"/>
          </a:xfrm>
          <a:prstGeom prst="rect">
            <a:avLst/>
          </a:prstGeom>
          <a:noFill/>
          <a:ln/>
        </p:spPr>
        <p:txBody>
          <a:bodyPr wrap="square" lIns="0" tIns="0" rIns="0" bIns="0" rtlCol="0" anchor="t"/>
          <a:lstStyle/>
          <a:p>
            <a:pPr indent="0" marL="0">
              <a:buNone/>
            </a:pPr>
            <a:r>
              <a:rPr lang="en-US" sz="2200" b="1" dirty="0">
                <a:solidFill>
                  <a:schemeClr val="bg1"/>
                </a:solidFill>
              </a:rPr>
              <a:t>Vargel</a:t>
            </a:r>
            <a:endParaRPr lang="en-US" sz="2200" dirty="0"/>
          </a:p>
        </p:txBody>
      </p:sp>
      <p:sp>
        <p:nvSpPr>
          <p:cNvPr id="13" name="Text 9"/>
          <p:cNvSpPr txBox="1"/>
          <p:nvPr/>
        </p:nvSpPr>
        <p:spPr>
          <a:xfrm>
            <a:off x="4837176" y="3154680"/>
            <a:ext cx="2606040" cy="365760"/>
          </a:xfrm>
          <a:prstGeom prst="rect">
            <a:avLst/>
          </a:prstGeom>
          <a:noFill/>
          <a:ln/>
        </p:spPr>
        <p:txBody>
          <a:bodyPr wrap="square" lIns="0" tIns="0" rIns="0" bIns="0" rtlCol="0" anchor="t"/>
          <a:lstStyle/>
          <a:p>
            <a:pPr indent="0" marL="0">
              <a:buNone/>
            </a:pPr>
            <a:r>
              <a:rPr lang="en-US" sz="1500" dirty="0">
                <a:solidFill>
                  <a:schemeClr val="accent6"/>
                </a:solidFill>
              </a:rPr>
              <a:t>İç dişli ve omuza yakın kesim</a:t>
            </a:r>
            <a:endParaRPr lang="en-US" sz="1500" dirty="0"/>
          </a:p>
        </p:txBody>
      </p:sp>
      <p:sp>
        <p:nvSpPr>
          <p:cNvPr id="14" name="eq-result"/>
          <p:cNvSpPr/>
          <p:nvPr/>
        </p:nvSpPr>
        <p:spPr>
          <a:xfrm>
            <a:off x="8485632" y="1783080"/>
            <a:ext cx="3154680" cy="1874520"/>
          </a:xfrm>
          <a:prstGeom prst="roundRect">
            <a:avLst>
              <a:gd name="adj" fmla="val 5854"/>
            </a:avLst>
          </a:prstGeom>
          <a:solidFill>
            <a:schemeClr val="accent1"/>
          </a:solidFill>
          <a:ln w="19050">
            <a:solidFill>
              <a:schemeClr val="accent2"/>
            </a:solidFill>
            <a:prstDash val="solid"/>
          </a:ln>
          <a:effectLst>
            <a:outerShdw sx="100000" sy="100000" kx="0" ky="0" algn="bl" rotWithShape="0" blurRad="177800" dist="50800" dir="5400000">
              <a:srgbClr val="000000">
                <a:alpha val="50000"/>
              </a:srgbClr>
            </a:outerShdw>
          </a:effectLst>
        </p:spPr>
      </p:sp>
      <p:sp>
        <p:nvSpPr>
          <p:cNvPr id="15" name="icon-circle result"/>
          <p:cNvSpPr/>
          <p:nvPr/>
        </p:nvSpPr>
        <p:spPr>
          <a:xfrm>
            <a:off x="8805672" y="2057400"/>
            <a:ext cx="566928" cy="566928"/>
          </a:xfrm>
          <a:prstGeom prst="ellipse">
            <a:avLst/>
          </a:prstGeom>
          <a:solidFill>
            <a:schemeClr val="tx1"/>
          </a:solidFill>
          <a:ln w="12700">
            <a:solidFill>
              <a:schemeClr val="tx1"/>
            </a:solidFill>
            <a:prstDash val="solid"/>
          </a:ln>
        </p:spPr>
      </p:sp>
      <p:pic>
        <p:nvPicPr>
          <p:cNvPr id="16" name="icon result" descr="/home/claude/deck/assets/FaBolt-orange.png">    </p:cNvPr>
          <p:cNvPicPr>
            <a:picLocks noChangeAspect="1"/>
          </p:cNvPicPr>
          <p:nvPr/>
        </p:nvPicPr>
        <p:blipFill>
          <a:blip r:embed="rId3"/>
          <a:stretch>
            <a:fillRect/>
          </a:stretch>
        </p:blipFill>
        <p:spPr>
          <a:xfrm>
            <a:off x="8947404" y="2199132"/>
            <a:ext cx="283464" cy="283464"/>
          </a:xfrm>
          <a:prstGeom prst="rect">
            <a:avLst/>
          </a:prstGeom>
        </p:spPr>
      </p:pic>
      <p:sp>
        <p:nvSpPr>
          <p:cNvPr id="17" name="Text 12"/>
          <p:cNvSpPr txBox="1"/>
          <p:nvPr/>
        </p:nvSpPr>
        <p:spPr>
          <a:xfrm>
            <a:off x="8805672" y="2743200"/>
            <a:ext cx="2697480" cy="411480"/>
          </a:xfrm>
          <a:prstGeom prst="rect">
            <a:avLst/>
          </a:prstGeom>
          <a:noFill/>
          <a:ln/>
        </p:spPr>
        <p:txBody>
          <a:bodyPr wrap="square" lIns="0" tIns="0" rIns="0" bIns="0" rtlCol="0" anchor="t"/>
          <a:lstStyle/>
          <a:p>
            <a:pPr indent="0" marL="0">
              <a:buNone/>
            </a:pPr>
            <a:r>
              <a:rPr lang="en-US" sz="2200" b="1" dirty="0">
                <a:solidFill>
                  <a:schemeClr val="tx1"/>
                </a:solidFill>
              </a:rPr>
              <a:t>Gear Skiving</a:t>
            </a:r>
            <a:endParaRPr lang="en-US" sz="2200" dirty="0"/>
          </a:p>
        </p:txBody>
      </p:sp>
      <p:sp>
        <p:nvSpPr>
          <p:cNvPr id="18" name="Text 13"/>
          <p:cNvSpPr txBox="1"/>
          <p:nvPr/>
        </p:nvSpPr>
        <p:spPr>
          <a:xfrm>
            <a:off x="8805672" y="3154680"/>
            <a:ext cx="2606040" cy="365760"/>
          </a:xfrm>
          <a:prstGeom prst="rect">
            <a:avLst/>
          </a:prstGeom>
          <a:noFill/>
          <a:ln/>
        </p:spPr>
        <p:txBody>
          <a:bodyPr wrap="square" lIns="0" tIns="0" rIns="0" bIns="0" rtlCol="0" anchor="t"/>
          <a:lstStyle/>
          <a:p>
            <a:pPr indent="0" marL="0">
              <a:buNone/>
            </a:pPr>
            <a:r>
              <a:rPr lang="en-US" sz="1500" dirty="0">
                <a:solidFill>
                  <a:schemeClr val="tx1"/>
                </a:solidFill>
              </a:rPr>
              <a:t>İkisinin güçlü yanları bir arada</a:t>
            </a:r>
            <a:endParaRPr lang="en-US" sz="1500" dirty="0"/>
          </a:p>
        </p:txBody>
      </p:sp>
      <p:sp>
        <p:nvSpPr>
          <p:cNvPr id="19" name="Text 14"/>
          <p:cNvSpPr txBox="1"/>
          <p:nvPr/>
        </p:nvSpPr>
        <p:spPr>
          <a:xfrm>
            <a:off x="3675888" y="2286000"/>
            <a:ext cx="822960" cy="822960"/>
          </a:xfrm>
          <a:prstGeom prst="rect">
            <a:avLst/>
          </a:prstGeom>
          <a:noFill/>
          <a:ln/>
        </p:spPr>
        <p:txBody>
          <a:bodyPr wrap="square" lIns="0" tIns="0" rIns="0" bIns="0" rtlCol="0" anchor="ctr"/>
          <a:lstStyle/>
          <a:p>
            <a:pPr algn="ctr" indent="0" marL="0">
              <a:buNone/>
            </a:pPr>
            <a:r>
              <a:rPr lang="en-US" sz="4800" b="1" dirty="0">
                <a:solidFill>
                  <a:schemeClr val="accent2"/>
                </a:solidFill>
              </a:rPr>
              <a:t>+</a:t>
            </a:r>
            <a:endParaRPr lang="en-US" sz="4800" dirty="0"/>
          </a:p>
        </p:txBody>
      </p:sp>
      <p:sp>
        <p:nvSpPr>
          <p:cNvPr id="20" name="Text 15"/>
          <p:cNvSpPr txBox="1"/>
          <p:nvPr/>
        </p:nvSpPr>
        <p:spPr>
          <a:xfrm>
            <a:off x="7644384" y="2286000"/>
            <a:ext cx="822960" cy="822960"/>
          </a:xfrm>
          <a:prstGeom prst="rect">
            <a:avLst/>
          </a:prstGeom>
          <a:noFill/>
          <a:ln/>
        </p:spPr>
        <p:txBody>
          <a:bodyPr wrap="square" lIns="0" tIns="0" rIns="0" bIns="0" rtlCol="0" anchor="ctr"/>
          <a:lstStyle/>
          <a:p>
            <a:pPr algn="ctr" indent="0" marL="0">
              <a:buNone/>
            </a:pPr>
            <a:r>
              <a:rPr lang="en-US" sz="4800" b="1" dirty="0">
                <a:solidFill>
                  <a:schemeClr val="accent2"/>
                </a:solidFill>
              </a:rPr>
              <a:t>=</a:t>
            </a:r>
            <a:endParaRPr lang="en-US" sz="4800" dirty="0"/>
          </a:p>
        </p:txBody>
      </p:sp>
      <p:sp>
        <p:nvSpPr>
          <p:cNvPr id="21" name="definition-card"/>
          <p:cNvSpPr/>
          <p:nvPr/>
        </p:nvSpPr>
        <p:spPr>
          <a:xfrm>
            <a:off x="548640" y="4023360"/>
            <a:ext cx="11091672" cy="1325880"/>
          </a:xfrm>
          <a:prstGeom prst="roundRect">
            <a:avLst>
              <a:gd name="adj" fmla="val 8276"/>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2" name="Text 17"/>
          <p:cNvSpPr txBox="1"/>
          <p:nvPr/>
        </p:nvSpPr>
        <p:spPr>
          <a:xfrm>
            <a:off x="868680" y="4224528"/>
            <a:ext cx="10424160" cy="100584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Tanım  </a:t>
            </a:r>
            <a:pPr indent="0" marL="0">
              <a:spcAft>
                <a:spcPts val="600"/>
              </a:spcAft>
              <a:buNone/>
            </a:pPr>
            <a:r>
              <a:rPr lang="en-US" sz="1700" dirty="0">
                <a:solidFill>
                  <a:schemeClr val="bg2"/>
                </a:solidFill>
              </a:rPr>
              <a:t>Dişli şeklindeki kesici takım ile iş parçası, eksenleri arasında bir çapraz açı (Σ) olacak şekilde senkron döner. Bu açı, temas noktasında iki yüzey arasında bir kayma hızı oluşturur ve talaşı kaldıran şey bu kayma hareketidir. Takım aynı anda iş parçası ekseni boyunca ilerleyerek dişleri sürekli bir süreçte, tek seferde değil, katman katman açar.</a:t>
            </a:r>
            <a:endParaRPr lang="en-US" sz="17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01 · PRENSİP</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Kesme hızı açıdan doğar</a:t>
            </a:r>
            <a:endParaRPr lang="en-US" sz="3600" dirty="0"/>
          </a:p>
        </p:txBody>
      </p:sp>
      <p:sp>
        <p:nvSpPr>
          <p:cNvPr id="4" name="kinematics-card"/>
          <p:cNvSpPr/>
          <p:nvPr/>
        </p:nvSpPr>
        <p:spPr>
          <a:xfrm>
            <a:off x="548640" y="1737360"/>
            <a:ext cx="5486400" cy="4389120"/>
          </a:xfrm>
          <a:prstGeom prst="roundRect">
            <a:avLst>
              <a:gd name="adj" fmla="val 2500"/>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pic>
        <p:nvPicPr>
          <p:cNvPr id="5" name="kinematics-diagram" descr="/home/claude/deck/assets/kinematics.png">    </p:cNvPr>
          <p:cNvPicPr>
            <a:picLocks noChangeAspect="1"/>
          </p:cNvPicPr>
          <p:nvPr/>
        </p:nvPicPr>
        <p:blipFill>
          <a:blip r:embed="rId1"/>
          <a:stretch>
            <a:fillRect/>
          </a:stretch>
        </p:blipFill>
        <p:spPr>
          <a:xfrm>
            <a:off x="777240" y="1874520"/>
            <a:ext cx="5029200" cy="3771900"/>
          </a:xfrm>
          <a:prstGeom prst="rect">
            <a:avLst/>
          </a:prstGeom>
        </p:spPr>
      </p:pic>
      <p:sp>
        <p:nvSpPr>
          <p:cNvPr id="6" name="Text 3"/>
          <p:cNvSpPr txBox="1"/>
          <p:nvPr/>
        </p:nvSpPr>
        <p:spPr>
          <a:xfrm>
            <a:off x="777240" y="5687568"/>
            <a:ext cx="5029200" cy="274320"/>
          </a:xfrm>
          <a:prstGeom prst="rect">
            <a:avLst/>
          </a:prstGeom>
          <a:noFill/>
          <a:ln/>
        </p:spPr>
        <p:txBody>
          <a:bodyPr wrap="square" lIns="0" tIns="0" rIns="0" bIns="0" rtlCol="0" anchor="t"/>
          <a:lstStyle/>
          <a:p>
            <a:pPr algn="ctr" indent="0" marL="0">
              <a:buNone/>
            </a:pPr>
            <a:r>
              <a:rPr lang="en-US" sz="1200" i="1" dirty="0">
                <a:solidFill>
                  <a:schemeClr val="accent4"/>
                </a:solidFill>
              </a:rPr>
              <a:t>Düz dişli için hız üçgeni (Σ = 20°)</a:t>
            </a:r>
            <a:endParaRPr lang="en-US" sz="1200" dirty="0"/>
          </a:p>
        </p:txBody>
      </p:sp>
      <p:sp>
        <p:nvSpPr>
          <p:cNvPr id="7" name="formula-ratio"/>
          <p:cNvSpPr/>
          <p:nvPr/>
        </p:nvSpPr>
        <p:spPr>
          <a:xfrm>
            <a:off x="6355080" y="1737360"/>
            <a:ext cx="5285232" cy="1143000"/>
          </a:xfrm>
          <a:prstGeom prst="roundRect">
            <a:avLst>
              <a:gd name="adj" fmla="val 9600"/>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8" name="Text 5"/>
          <p:cNvSpPr txBox="1"/>
          <p:nvPr/>
        </p:nvSpPr>
        <p:spPr>
          <a:xfrm>
            <a:off x="6629400" y="1874520"/>
            <a:ext cx="3657600" cy="274320"/>
          </a:xfrm>
          <a:prstGeom prst="rect">
            <a:avLst/>
          </a:prstGeom>
          <a:noFill/>
          <a:ln/>
        </p:spPr>
        <p:txBody>
          <a:bodyPr wrap="square" lIns="0" tIns="0" rIns="0" bIns="0" rtlCol="0" anchor="t"/>
          <a:lstStyle/>
          <a:p>
            <a:pPr indent="0" marL="0">
              <a:buNone/>
            </a:pPr>
            <a:r>
              <a:rPr lang="en-US" sz="1100" b="1" spc="300" kern="0" dirty="0">
                <a:solidFill>
                  <a:schemeClr val="accent4"/>
                </a:solidFill>
              </a:rPr>
              <a:t>SENKRON DEVİR ORANI</a:t>
            </a:r>
            <a:endParaRPr lang="en-US" sz="1100" dirty="0"/>
          </a:p>
        </p:txBody>
      </p:sp>
      <p:sp>
        <p:nvSpPr>
          <p:cNvPr id="9" name="Text 6"/>
          <p:cNvSpPr txBox="1"/>
          <p:nvPr/>
        </p:nvSpPr>
        <p:spPr>
          <a:xfrm>
            <a:off x="6629400" y="2176272"/>
            <a:ext cx="4736592" cy="548640"/>
          </a:xfrm>
          <a:prstGeom prst="rect">
            <a:avLst/>
          </a:prstGeom>
          <a:noFill/>
          <a:ln/>
        </p:spPr>
        <p:txBody>
          <a:bodyPr wrap="square" lIns="0" tIns="0" rIns="0" bIns="0" rtlCol="0" anchor="t"/>
          <a:lstStyle/>
          <a:p>
            <a:pPr indent="0" marL="0">
              <a:buNone/>
            </a:pPr>
            <a:r>
              <a:rPr lang="en-US" sz="2800" b="1" i="1" dirty="0">
                <a:solidFill>
                  <a:schemeClr val="accent3"/>
                </a:solidFill>
              </a:rPr>
              <a:t>n</a:t>
            </a:r>
            <a:pPr indent="0" marL="0">
              <a:buNone/>
            </a:pPr>
            <a:r>
              <a:rPr lang="en-US" sz="2800" b="1" i="1" baseline="-40000" dirty="0">
                <a:solidFill>
                  <a:schemeClr val="accent3"/>
                </a:solidFill>
              </a:rPr>
              <a:t>T</a:t>
            </a:r>
            <a:pPr indent="0" marL="0">
              <a:buNone/>
            </a:pPr>
            <a:r>
              <a:rPr lang="en-US" sz="2800" b="1" dirty="0">
                <a:solidFill>
                  <a:schemeClr val="accent3"/>
                </a:solidFill>
              </a:rPr>
              <a:t> / </a:t>
            </a:r>
            <a:pPr indent="0" marL="0">
              <a:buNone/>
            </a:pPr>
            <a:r>
              <a:rPr lang="en-US" sz="2800" b="1" i="1" dirty="0">
                <a:solidFill>
                  <a:schemeClr val="accent3"/>
                </a:solidFill>
              </a:rPr>
              <a:t>n</a:t>
            </a:r>
            <a:pPr indent="0" marL="0">
              <a:buNone/>
            </a:pPr>
            <a:r>
              <a:rPr lang="en-US" sz="2800" b="1" i="1" baseline="-40000" dirty="0">
                <a:solidFill>
                  <a:schemeClr val="accent3"/>
                </a:solidFill>
              </a:rPr>
              <a:t>W</a:t>
            </a:r>
            <a:pPr indent="0" marL="0">
              <a:buNone/>
            </a:pPr>
            <a:r>
              <a:rPr lang="en-US" sz="2800" b="1" dirty="0">
                <a:solidFill>
                  <a:schemeClr val="accent3"/>
                </a:solidFill>
              </a:rPr>
              <a:t>  =  </a:t>
            </a:r>
            <a:pPr indent="0" marL="0">
              <a:buNone/>
            </a:pPr>
            <a:r>
              <a:rPr lang="en-US" sz="2800" b="1" i="1" dirty="0">
                <a:solidFill>
                  <a:schemeClr val="accent3"/>
                </a:solidFill>
              </a:rPr>
              <a:t>z</a:t>
            </a:r>
            <a:pPr indent="0" marL="0">
              <a:buNone/>
            </a:pPr>
            <a:r>
              <a:rPr lang="en-US" sz="2800" b="1" i="1" baseline="-40000" dirty="0">
                <a:solidFill>
                  <a:schemeClr val="accent3"/>
                </a:solidFill>
              </a:rPr>
              <a:t>W</a:t>
            </a:r>
            <a:pPr indent="0" marL="0">
              <a:buNone/>
            </a:pPr>
            <a:r>
              <a:rPr lang="en-US" sz="2800" b="1" dirty="0">
                <a:solidFill>
                  <a:schemeClr val="accent3"/>
                </a:solidFill>
              </a:rPr>
              <a:t> / </a:t>
            </a:r>
            <a:pPr indent="0" marL="0">
              <a:buNone/>
            </a:pPr>
            <a:r>
              <a:rPr lang="en-US" sz="2800" b="1" i="1" dirty="0">
                <a:solidFill>
                  <a:schemeClr val="accent3"/>
                </a:solidFill>
              </a:rPr>
              <a:t>z</a:t>
            </a:r>
            <a:pPr indent="0" marL="0">
              <a:buNone/>
            </a:pPr>
            <a:r>
              <a:rPr lang="en-US" sz="2800" b="1" i="1" baseline="-40000" dirty="0">
                <a:solidFill>
                  <a:schemeClr val="accent3"/>
                </a:solidFill>
              </a:rPr>
              <a:t>T</a:t>
            </a:r>
            <a:endParaRPr lang="en-US" sz="2800" dirty="0"/>
          </a:p>
        </p:txBody>
      </p:sp>
      <p:sp>
        <p:nvSpPr>
          <p:cNvPr id="10" name="formula-vc"/>
          <p:cNvSpPr/>
          <p:nvPr/>
        </p:nvSpPr>
        <p:spPr>
          <a:xfrm>
            <a:off x="6355080" y="3063240"/>
            <a:ext cx="5285232" cy="1143000"/>
          </a:xfrm>
          <a:prstGeom prst="roundRect">
            <a:avLst>
              <a:gd name="adj" fmla="val 9600"/>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1" name="Text 8"/>
          <p:cNvSpPr txBox="1"/>
          <p:nvPr/>
        </p:nvSpPr>
        <p:spPr>
          <a:xfrm>
            <a:off x="6629400" y="3200400"/>
            <a:ext cx="3657600" cy="274320"/>
          </a:xfrm>
          <a:prstGeom prst="rect">
            <a:avLst/>
          </a:prstGeom>
          <a:noFill/>
          <a:ln/>
        </p:spPr>
        <p:txBody>
          <a:bodyPr wrap="square" lIns="0" tIns="0" rIns="0" bIns="0" rtlCol="0" anchor="t"/>
          <a:lstStyle/>
          <a:p>
            <a:pPr indent="0" marL="0">
              <a:buNone/>
            </a:pPr>
            <a:r>
              <a:rPr lang="en-US" sz="1100" b="1" spc="300" kern="0" dirty="0">
                <a:solidFill>
                  <a:schemeClr val="accent4"/>
                </a:solidFill>
              </a:rPr>
              <a:t>KESME HIZI (DÜZ DİŞLİ)</a:t>
            </a:r>
            <a:endParaRPr lang="en-US" sz="1100" dirty="0"/>
          </a:p>
        </p:txBody>
      </p:sp>
      <p:sp>
        <p:nvSpPr>
          <p:cNvPr id="12" name="Text 9"/>
          <p:cNvSpPr txBox="1"/>
          <p:nvPr/>
        </p:nvSpPr>
        <p:spPr>
          <a:xfrm>
            <a:off x="6629400" y="3502152"/>
            <a:ext cx="4736592" cy="548640"/>
          </a:xfrm>
          <a:prstGeom prst="rect">
            <a:avLst/>
          </a:prstGeom>
          <a:noFill/>
          <a:ln/>
        </p:spPr>
        <p:txBody>
          <a:bodyPr wrap="square" lIns="0" tIns="0" rIns="0" bIns="0" rtlCol="0" anchor="t"/>
          <a:lstStyle/>
          <a:p>
            <a:pPr indent="0" marL="0">
              <a:buNone/>
            </a:pPr>
            <a:r>
              <a:rPr lang="en-US" sz="2800" b="1" i="1" dirty="0">
                <a:solidFill>
                  <a:schemeClr val="accent2"/>
                </a:solidFill>
              </a:rPr>
              <a:t>v</a:t>
            </a:r>
            <a:pPr indent="0" marL="0">
              <a:buNone/>
            </a:pPr>
            <a:r>
              <a:rPr lang="en-US" sz="2800" b="1" i="1" baseline="-40000" dirty="0">
                <a:solidFill>
                  <a:schemeClr val="accent2"/>
                </a:solidFill>
              </a:rPr>
              <a:t>c</a:t>
            </a:r>
            <a:pPr indent="0" marL="0">
              <a:buNone/>
            </a:pPr>
            <a:r>
              <a:rPr lang="en-US" sz="2800" b="1" dirty="0">
                <a:solidFill>
                  <a:schemeClr val="accent2"/>
                </a:solidFill>
              </a:rPr>
              <a:t>  ≈  </a:t>
            </a:r>
            <a:pPr indent="0" marL="0">
              <a:buNone/>
            </a:pPr>
            <a:r>
              <a:rPr lang="en-US" sz="2800" b="1" i="1" dirty="0">
                <a:solidFill>
                  <a:schemeClr val="accent2"/>
                </a:solidFill>
              </a:rPr>
              <a:t>v</a:t>
            </a:r>
            <a:pPr indent="0" marL="0">
              <a:buNone/>
            </a:pPr>
            <a:r>
              <a:rPr lang="en-US" sz="2800" b="1" i="1" baseline="-40000" dirty="0">
                <a:solidFill>
                  <a:schemeClr val="accent2"/>
                </a:solidFill>
              </a:rPr>
              <a:t>W</a:t>
            </a:r>
            <a:pPr indent="0" marL="0">
              <a:buNone/>
            </a:pPr>
            <a:r>
              <a:rPr lang="en-US" sz="2800" b="1" dirty="0">
                <a:solidFill>
                  <a:schemeClr val="accent2"/>
                </a:solidFill>
              </a:rPr>
              <a:t> · tan Σ</a:t>
            </a:r>
            <a:endParaRPr lang="en-US" sz="2800" dirty="0"/>
          </a:p>
        </p:txBody>
      </p:sp>
      <p:sp>
        <p:nvSpPr>
          <p:cNvPr id="13" name="Text 10"/>
          <p:cNvSpPr txBox="1"/>
          <p:nvPr/>
        </p:nvSpPr>
        <p:spPr>
          <a:xfrm>
            <a:off x="6400800" y="4434840"/>
            <a:ext cx="5193792" cy="1691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Elektronik dişli kutusu takım ve iş mili devirlerini kilitler.</a:t>
            </a:r>
            <a:endParaRPr lang="en-US" sz="1500" dirty="0"/>
          </a:p>
          <a:p>
            <a:pPr marL="342900" indent="-342900">
              <a:spcAft>
                <a:spcPts val="800"/>
              </a:spcAft>
              <a:buSzPct val="100000"/>
              <a:buChar char="•"/>
            </a:pPr>
            <a:r>
              <a:rPr lang="en-US" sz="1500" dirty="0">
                <a:solidFill>
                  <a:schemeClr val="bg2"/>
                </a:solidFill>
              </a:rPr>
              <a:t>Takım iş parçası ekseni boyunca eksenel ilerler.</a:t>
            </a:r>
            <a:endParaRPr lang="en-US" sz="1500" dirty="0"/>
          </a:p>
          <a:p>
            <a:pPr marL="342900" indent="-342900">
              <a:spcAft>
                <a:spcPts val="800"/>
              </a:spcAft>
              <a:buSzPct val="100000"/>
              <a:buChar char="•"/>
            </a:pPr>
            <a:r>
              <a:rPr lang="en-US" sz="1500" dirty="0">
                <a:solidFill>
                  <a:schemeClr val="bg2"/>
                </a:solidFill>
              </a:rPr>
              <a:t>Helisel dişlide ilerlemeye bağlı ek bir diferansiyel dönme eklenir.</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01 · PRENSİP</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Eksen açısı arttıkça kesme hızı artar</a:t>
            </a:r>
            <a:endParaRPr lang="en-US" sz="3600" dirty="0"/>
          </a:p>
        </p:txBody>
      </p:sp>
      <p:sp>
        <p:nvSpPr>
          <p:cNvPr id="4" name="chart-card"/>
          <p:cNvSpPr/>
          <p:nvPr/>
        </p:nvSpPr>
        <p:spPr>
          <a:xfrm>
            <a:off x="548640" y="1737360"/>
            <a:ext cx="7406640" cy="4389120"/>
          </a:xfrm>
          <a:prstGeom prst="roundRect">
            <a:avLst>
              <a:gd name="adj" fmla="val 2500"/>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graphicFrame>
        <p:nvGraphicFramePr>
          <p:cNvPr id="5" name="Chart 0" descr=""/>
          <p:cNvGraphicFramePr/>
          <p:nvPr/>
        </p:nvGraphicFramePr>
        <p:xfrm>
          <a:off x="731520" y="1828800"/>
          <a:ext cx="704088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77240" y="5760720"/>
            <a:ext cx="6949440" cy="274320"/>
          </a:xfrm>
          <a:prstGeom prst="rect">
            <a:avLst/>
          </a:prstGeom>
          <a:noFill/>
          <a:ln/>
        </p:spPr>
        <p:txBody>
          <a:bodyPr wrap="square" lIns="0" tIns="0" rIns="0" bIns="0" rtlCol="0" anchor="t"/>
          <a:lstStyle/>
          <a:p>
            <a:pPr indent="0" marL="0">
              <a:buNone/>
            </a:pPr>
            <a:r>
              <a:rPr lang="en-US" sz="1100" i="1" dirty="0">
                <a:solidFill>
                  <a:schemeClr val="accent4"/>
                </a:solidFill>
              </a:rPr>
              <a:t>Örnek: Ø100 mm bölüm dairesi, 1000 dev/dk iş parçası (vW ≈ 314 m/dk), düz dişli</a:t>
            </a:r>
            <a:endParaRPr lang="en-US" sz="1100" dirty="0"/>
          </a:p>
        </p:txBody>
      </p:sp>
      <p:sp>
        <p:nvSpPr>
          <p:cNvPr id="7" name="Text 4"/>
          <p:cNvSpPr txBox="1"/>
          <p:nvPr/>
        </p:nvSpPr>
        <p:spPr>
          <a:xfrm>
            <a:off x="8229600" y="1783080"/>
            <a:ext cx="3410712" cy="274320"/>
          </a:xfrm>
          <a:prstGeom prst="rect">
            <a:avLst/>
          </a:prstGeom>
          <a:noFill/>
          <a:ln/>
        </p:spPr>
        <p:txBody>
          <a:bodyPr wrap="square" lIns="0" tIns="0" rIns="0" bIns="0" rtlCol="0" anchor="t"/>
          <a:lstStyle/>
          <a:p>
            <a:pPr indent="0" marL="0">
              <a:buNone/>
            </a:pPr>
            <a:r>
              <a:rPr lang="en-US" sz="1100" b="1" spc="300" kern="0" dirty="0">
                <a:solidFill>
                  <a:schemeClr val="accent4"/>
                </a:solidFill>
              </a:rPr>
              <a:t>TİPİK ARALIK</a:t>
            </a:r>
            <a:endParaRPr lang="en-US" sz="1100" dirty="0"/>
          </a:p>
        </p:txBody>
      </p:sp>
      <p:sp>
        <p:nvSpPr>
          <p:cNvPr id="8" name="Text 5"/>
          <p:cNvSpPr txBox="1"/>
          <p:nvPr/>
        </p:nvSpPr>
        <p:spPr>
          <a:xfrm>
            <a:off x="8229600" y="2057400"/>
            <a:ext cx="3410712" cy="868680"/>
          </a:xfrm>
          <a:prstGeom prst="rect">
            <a:avLst/>
          </a:prstGeom>
          <a:noFill/>
          <a:ln/>
        </p:spPr>
        <p:txBody>
          <a:bodyPr wrap="square" lIns="0" tIns="0" rIns="0" bIns="0" rtlCol="0" anchor="t"/>
          <a:lstStyle/>
          <a:p>
            <a:pPr indent="0" marL="0">
              <a:buNone/>
            </a:pPr>
            <a:r>
              <a:rPr lang="en-US" sz="5400" b="1" dirty="0">
                <a:solidFill>
                  <a:schemeClr val="accent1"/>
                </a:solidFill>
              </a:rPr>
              <a:t>10°–30°</a:t>
            </a:r>
            <a:endParaRPr lang="en-US" sz="5400" dirty="0"/>
          </a:p>
        </p:txBody>
      </p:sp>
      <p:sp>
        <p:nvSpPr>
          <p:cNvPr id="9" name="Text 6"/>
          <p:cNvSpPr txBox="1"/>
          <p:nvPr/>
        </p:nvSpPr>
        <p:spPr>
          <a:xfrm>
            <a:off x="8229600" y="2926080"/>
            <a:ext cx="3410712" cy="320040"/>
          </a:xfrm>
          <a:prstGeom prst="rect">
            <a:avLst/>
          </a:prstGeom>
          <a:noFill/>
          <a:ln/>
        </p:spPr>
        <p:txBody>
          <a:bodyPr wrap="square" lIns="0" tIns="0" rIns="0" bIns="0" rtlCol="0" anchor="t"/>
          <a:lstStyle/>
          <a:p>
            <a:pPr indent="0" marL="0">
              <a:buNone/>
            </a:pPr>
            <a:r>
              <a:rPr lang="en-US" sz="1500" dirty="0">
                <a:solidFill>
                  <a:schemeClr val="accent6"/>
                </a:solidFill>
              </a:rPr>
              <a:t>eksen çapraz açısı</a:t>
            </a:r>
            <a:endParaRPr lang="en-US" sz="1500" dirty="0"/>
          </a:p>
        </p:txBody>
      </p:sp>
      <p:sp>
        <p:nvSpPr>
          <p:cNvPr id="10" name="Text 7"/>
          <p:cNvSpPr txBox="1"/>
          <p:nvPr/>
        </p:nvSpPr>
        <p:spPr>
          <a:xfrm>
            <a:off x="8229600" y="3520440"/>
            <a:ext cx="3410712" cy="320040"/>
          </a:xfrm>
          <a:prstGeom prst="rect">
            <a:avLst/>
          </a:prstGeom>
          <a:noFill/>
          <a:ln/>
        </p:spPr>
        <p:txBody>
          <a:bodyPr wrap="square" lIns="0" tIns="0" rIns="0" bIns="0" rtlCol="0" anchor="t"/>
          <a:lstStyle/>
          <a:p>
            <a:pPr indent="0" marL="0">
              <a:buNone/>
            </a:pPr>
            <a:r>
              <a:rPr lang="en-US" sz="1700" b="1" dirty="0">
                <a:solidFill>
                  <a:schemeClr val="accent2"/>
                </a:solidFill>
              </a:rPr>
              <a:t>Büyük Σ</a:t>
            </a:r>
            <a:endParaRPr lang="en-US" sz="1700" dirty="0"/>
          </a:p>
        </p:txBody>
      </p:sp>
      <p:sp>
        <p:nvSpPr>
          <p:cNvPr id="11" name="Text 8"/>
          <p:cNvSpPr txBox="1"/>
          <p:nvPr/>
        </p:nvSpPr>
        <p:spPr>
          <a:xfrm>
            <a:off x="8229600" y="3867912"/>
            <a:ext cx="3410712" cy="868680"/>
          </a:xfrm>
          <a:prstGeom prst="rect">
            <a:avLst/>
          </a:prstGeom>
          <a:noFill/>
          <a:ln/>
        </p:spPr>
        <p:txBody>
          <a:bodyPr wrap="square" lIns="0" tIns="0" rIns="0" bIns="0" rtlCol="0" anchor="t"/>
          <a:lstStyle/>
          <a:p>
            <a:pPr indent="0" marL="0">
              <a:buNone/>
            </a:pPr>
            <a:r>
              <a:rPr lang="en-US" sz="1400" dirty="0">
                <a:solidFill>
                  <a:schemeClr val="bg2"/>
                </a:solidFill>
              </a:rPr>
              <a:t>Daha yüksek kesme hızı, ancak çarpışma riski ve talaş açısı değişimi artar.</a:t>
            </a:r>
            <a:endParaRPr lang="en-US" sz="1400" dirty="0"/>
          </a:p>
        </p:txBody>
      </p:sp>
      <p:sp>
        <p:nvSpPr>
          <p:cNvPr id="12" name="Text 9"/>
          <p:cNvSpPr txBox="1"/>
          <p:nvPr/>
        </p:nvSpPr>
        <p:spPr>
          <a:xfrm>
            <a:off x="8229600" y="4846320"/>
            <a:ext cx="3410712" cy="320040"/>
          </a:xfrm>
          <a:prstGeom prst="rect">
            <a:avLst/>
          </a:prstGeom>
          <a:noFill/>
          <a:ln/>
        </p:spPr>
        <p:txBody>
          <a:bodyPr wrap="square" lIns="0" tIns="0" rIns="0" bIns="0" rtlCol="0" anchor="t"/>
          <a:lstStyle/>
          <a:p>
            <a:pPr indent="0" marL="0">
              <a:buNone/>
            </a:pPr>
            <a:r>
              <a:rPr lang="en-US" sz="1700" b="1" dirty="0">
                <a:solidFill>
                  <a:schemeClr val="accent2"/>
                </a:solidFill>
              </a:rPr>
              <a:t>Küçük Σ</a:t>
            </a:r>
            <a:endParaRPr lang="en-US" sz="1700" dirty="0"/>
          </a:p>
        </p:txBody>
      </p:sp>
      <p:sp>
        <p:nvSpPr>
          <p:cNvPr id="13" name="Text 10"/>
          <p:cNvSpPr txBox="1"/>
          <p:nvPr/>
        </p:nvSpPr>
        <p:spPr>
          <a:xfrm>
            <a:off x="8229600" y="5193792"/>
            <a:ext cx="3410712" cy="868680"/>
          </a:xfrm>
          <a:prstGeom prst="rect">
            <a:avLst/>
          </a:prstGeom>
          <a:noFill/>
          <a:ln/>
        </p:spPr>
        <p:txBody>
          <a:bodyPr wrap="square" lIns="0" tIns="0" rIns="0" bIns="0" rtlCol="0" anchor="t"/>
          <a:lstStyle/>
          <a:p>
            <a:pPr indent="0" marL="0">
              <a:buNone/>
            </a:pPr>
            <a:r>
              <a:rPr lang="en-US" sz="1400" dirty="0">
                <a:solidFill>
                  <a:schemeClr val="bg2"/>
                </a:solidFill>
              </a:rPr>
              <a:t>İç dişlide yerleşim kolaylaşır, aynı hız için daha yüksek devir gerekir.</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02 · TARİHÇE</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100 yıllık fikir, yeni nesil tezgahlarla hayata geçti</a:t>
            </a:r>
            <a:endParaRPr lang="en-US" sz="3600" dirty="0"/>
          </a:p>
        </p:txBody>
      </p:sp>
      <p:sp>
        <p:nvSpPr>
          <p:cNvPr id="4" name="timeline-line"/>
          <p:cNvSpPr/>
          <p:nvPr/>
        </p:nvSpPr>
        <p:spPr>
          <a:xfrm>
            <a:off x="548640" y="3063240"/>
            <a:ext cx="11091672" cy="0"/>
          </a:xfrm>
          <a:prstGeom prst="line">
            <a:avLst/>
          </a:prstGeom>
          <a:noFill/>
          <a:ln w="38100">
            <a:solidFill>
              <a:schemeClr val="accent5"/>
            </a:solidFill>
            <a:prstDash val="solid"/>
          </a:ln>
        </p:spPr>
      </p:sp>
      <p:sp>
        <p:nvSpPr>
          <p:cNvPr id="5" name="timeline-dot 1910"/>
          <p:cNvSpPr/>
          <p:nvPr/>
        </p:nvSpPr>
        <p:spPr>
          <a:xfrm>
            <a:off x="1394460" y="2880360"/>
            <a:ext cx="365760" cy="365760"/>
          </a:xfrm>
          <a:prstGeom prst="ellipse">
            <a:avLst/>
          </a:prstGeom>
          <a:solidFill>
            <a:schemeClr val="tx2"/>
          </a:solidFill>
          <a:ln w="31750">
            <a:solidFill>
              <a:schemeClr val="accent1"/>
            </a:solidFill>
            <a:prstDash val="solid"/>
          </a:ln>
        </p:spPr>
      </p:sp>
      <p:sp>
        <p:nvSpPr>
          <p:cNvPr id="6" name="Text 4"/>
          <p:cNvSpPr txBox="1"/>
          <p:nvPr/>
        </p:nvSpPr>
        <p:spPr>
          <a:xfrm>
            <a:off x="525780" y="1965960"/>
            <a:ext cx="2103120" cy="548640"/>
          </a:xfrm>
          <a:prstGeom prst="rect">
            <a:avLst/>
          </a:prstGeom>
          <a:noFill/>
          <a:ln/>
        </p:spPr>
        <p:txBody>
          <a:bodyPr wrap="square" lIns="0" tIns="0" rIns="0" bIns="0" rtlCol="0" anchor="b"/>
          <a:lstStyle/>
          <a:p>
            <a:pPr algn="ctr" indent="0" marL="0">
              <a:buNone/>
            </a:pPr>
            <a:r>
              <a:rPr lang="en-US" sz="3400" b="1" dirty="0">
                <a:solidFill>
                  <a:schemeClr val="accent2"/>
                </a:solidFill>
              </a:rPr>
              <a:t>1910</a:t>
            </a:r>
            <a:endParaRPr lang="en-US" sz="3400" dirty="0"/>
          </a:p>
        </p:txBody>
      </p:sp>
      <p:sp>
        <p:nvSpPr>
          <p:cNvPr id="7" name="timeline-card 1910"/>
          <p:cNvSpPr/>
          <p:nvPr/>
        </p:nvSpPr>
        <p:spPr>
          <a:xfrm>
            <a:off x="548640" y="3520440"/>
            <a:ext cx="2057400" cy="2240280"/>
          </a:xfrm>
          <a:prstGeom prst="roundRect">
            <a:avLst>
              <a:gd name="adj" fmla="val 5333"/>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8" name="Text 6"/>
          <p:cNvSpPr txBox="1"/>
          <p:nvPr/>
        </p:nvSpPr>
        <p:spPr>
          <a:xfrm>
            <a:off x="731520" y="3703320"/>
            <a:ext cx="1691640" cy="365760"/>
          </a:xfrm>
          <a:prstGeom prst="rect">
            <a:avLst/>
          </a:prstGeom>
          <a:noFill/>
          <a:ln/>
        </p:spPr>
        <p:txBody>
          <a:bodyPr wrap="square" lIns="0" tIns="0" rIns="0" bIns="0" rtlCol="0" anchor="t"/>
          <a:lstStyle/>
          <a:p>
            <a:pPr indent="0" marL="0">
              <a:buNone/>
            </a:pPr>
            <a:r>
              <a:rPr lang="en-US" sz="1800" b="1" dirty="0">
                <a:solidFill>
                  <a:schemeClr val="bg1"/>
                </a:solidFill>
              </a:rPr>
              <a:t>Patent</a:t>
            </a:r>
            <a:endParaRPr lang="en-US" sz="1800" dirty="0"/>
          </a:p>
        </p:txBody>
      </p:sp>
      <p:sp>
        <p:nvSpPr>
          <p:cNvPr id="9" name="Text 7"/>
          <p:cNvSpPr txBox="1"/>
          <p:nvPr/>
        </p:nvSpPr>
        <p:spPr>
          <a:xfrm>
            <a:off x="731520" y="4114800"/>
            <a:ext cx="1691640" cy="1554480"/>
          </a:xfrm>
          <a:prstGeom prst="rect">
            <a:avLst/>
          </a:prstGeom>
          <a:noFill/>
          <a:ln/>
        </p:spPr>
        <p:txBody>
          <a:bodyPr wrap="square" lIns="0" tIns="0" rIns="0" bIns="0" rtlCol="0" anchor="t"/>
          <a:lstStyle/>
          <a:p>
            <a:pPr indent="0" marL="0">
              <a:buNone/>
            </a:pPr>
            <a:r>
              <a:rPr lang="en-US" sz="1400" dirty="0">
                <a:solidFill>
                  <a:schemeClr val="accent6"/>
                </a:solidFill>
              </a:rPr>
              <a:t>Wilhelm von Pittler yöntemin patentini alır.</a:t>
            </a:r>
            <a:endParaRPr lang="en-US" sz="1400" dirty="0"/>
          </a:p>
        </p:txBody>
      </p:sp>
      <p:sp>
        <p:nvSpPr>
          <p:cNvPr id="10" name="timeline-dot 20. yy"/>
          <p:cNvSpPr/>
          <p:nvPr/>
        </p:nvSpPr>
        <p:spPr>
          <a:xfrm>
            <a:off x="3653028" y="2880360"/>
            <a:ext cx="365760" cy="365760"/>
          </a:xfrm>
          <a:prstGeom prst="ellipse">
            <a:avLst/>
          </a:prstGeom>
          <a:solidFill>
            <a:schemeClr val="tx2"/>
          </a:solidFill>
          <a:ln w="31750">
            <a:solidFill>
              <a:schemeClr val="accent1"/>
            </a:solidFill>
            <a:prstDash val="solid"/>
          </a:ln>
        </p:spPr>
      </p:sp>
      <p:sp>
        <p:nvSpPr>
          <p:cNvPr id="11" name="Text 9"/>
          <p:cNvSpPr txBox="1"/>
          <p:nvPr/>
        </p:nvSpPr>
        <p:spPr>
          <a:xfrm>
            <a:off x="2784348" y="1965960"/>
            <a:ext cx="2103120" cy="548640"/>
          </a:xfrm>
          <a:prstGeom prst="rect">
            <a:avLst/>
          </a:prstGeom>
          <a:noFill/>
          <a:ln/>
        </p:spPr>
        <p:txBody>
          <a:bodyPr wrap="square" lIns="0" tIns="0" rIns="0" bIns="0" rtlCol="0" anchor="b"/>
          <a:lstStyle/>
          <a:p>
            <a:pPr algn="ctr" indent="0" marL="0">
              <a:buNone/>
            </a:pPr>
            <a:r>
              <a:rPr lang="en-US" sz="2400" b="1" dirty="0">
                <a:solidFill>
                  <a:schemeClr val="accent2"/>
                </a:solidFill>
              </a:rPr>
              <a:t>20. yy</a:t>
            </a:r>
            <a:endParaRPr lang="en-US" sz="2400" dirty="0"/>
          </a:p>
        </p:txBody>
      </p:sp>
      <p:sp>
        <p:nvSpPr>
          <p:cNvPr id="12" name="timeline-card 20. yy"/>
          <p:cNvSpPr/>
          <p:nvPr/>
        </p:nvSpPr>
        <p:spPr>
          <a:xfrm>
            <a:off x="2807208" y="3520440"/>
            <a:ext cx="2057400" cy="2240280"/>
          </a:xfrm>
          <a:prstGeom prst="roundRect">
            <a:avLst>
              <a:gd name="adj" fmla="val 5333"/>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3" name="Text 11"/>
          <p:cNvSpPr txBox="1"/>
          <p:nvPr/>
        </p:nvSpPr>
        <p:spPr>
          <a:xfrm>
            <a:off x="2990088" y="3703320"/>
            <a:ext cx="1691640" cy="365760"/>
          </a:xfrm>
          <a:prstGeom prst="rect">
            <a:avLst/>
          </a:prstGeom>
          <a:noFill/>
          <a:ln/>
        </p:spPr>
        <p:txBody>
          <a:bodyPr wrap="square" lIns="0" tIns="0" rIns="0" bIns="0" rtlCol="0" anchor="t"/>
          <a:lstStyle/>
          <a:p>
            <a:pPr indent="0" marL="0">
              <a:buNone/>
            </a:pPr>
            <a:r>
              <a:rPr lang="en-US" sz="1800" b="1" dirty="0">
                <a:solidFill>
                  <a:schemeClr val="bg1"/>
                </a:solidFill>
              </a:rPr>
              <a:t>Bekleyiş</a:t>
            </a:r>
            <a:endParaRPr lang="en-US" sz="1800" dirty="0"/>
          </a:p>
        </p:txBody>
      </p:sp>
      <p:sp>
        <p:nvSpPr>
          <p:cNvPr id="14" name="Text 12"/>
          <p:cNvSpPr txBox="1"/>
          <p:nvPr/>
        </p:nvSpPr>
        <p:spPr>
          <a:xfrm>
            <a:off x="2990088" y="4114800"/>
            <a:ext cx="1691640" cy="1554480"/>
          </a:xfrm>
          <a:prstGeom prst="rect">
            <a:avLst/>
          </a:prstGeom>
          <a:noFill/>
          <a:ln/>
        </p:spPr>
        <p:txBody>
          <a:bodyPr wrap="square" lIns="0" tIns="0" rIns="0" bIns="0" rtlCol="0" anchor="t"/>
          <a:lstStyle/>
          <a:p>
            <a:pPr indent="0" marL="0">
              <a:buNone/>
            </a:pPr>
            <a:r>
              <a:rPr lang="en-US" sz="1400" dirty="0">
                <a:solidFill>
                  <a:schemeClr val="accent6"/>
                </a:solidFill>
              </a:rPr>
              <a:t>Mekanik senkronizasyon ve rijitlik yetersiz kalır, yöntem yaygınlaşamaz.</a:t>
            </a:r>
            <a:endParaRPr lang="en-US" sz="1400" dirty="0"/>
          </a:p>
        </p:txBody>
      </p:sp>
      <p:sp>
        <p:nvSpPr>
          <p:cNvPr id="15" name="timeline-dot 2000'ler sonu"/>
          <p:cNvSpPr/>
          <p:nvPr/>
        </p:nvSpPr>
        <p:spPr>
          <a:xfrm>
            <a:off x="5911596" y="2880360"/>
            <a:ext cx="365760" cy="365760"/>
          </a:xfrm>
          <a:prstGeom prst="ellipse">
            <a:avLst/>
          </a:prstGeom>
          <a:solidFill>
            <a:schemeClr val="tx2"/>
          </a:solidFill>
          <a:ln w="31750">
            <a:solidFill>
              <a:schemeClr val="accent1"/>
            </a:solidFill>
            <a:prstDash val="solid"/>
          </a:ln>
        </p:spPr>
      </p:sp>
      <p:sp>
        <p:nvSpPr>
          <p:cNvPr id="16" name="Text 14"/>
          <p:cNvSpPr txBox="1"/>
          <p:nvPr/>
        </p:nvSpPr>
        <p:spPr>
          <a:xfrm>
            <a:off x="5042916" y="1965960"/>
            <a:ext cx="2103120" cy="548640"/>
          </a:xfrm>
          <a:prstGeom prst="rect">
            <a:avLst/>
          </a:prstGeom>
          <a:noFill/>
          <a:ln/>
        </p:spPr>
        <p:txBody>
          <a:bodyPr wrap="square" lIns="0" tIns="0" rIns="0" bIns="0" rtlCol="0" anchor="b"/>
          <a:lstStyle/>
          <a:p>
            <a:pPr algn="ctr" indent="0" marL="0">
              <a:buNone/>
            </a:pPr>
            <a:r>
              <a:rPr lang="en-US" sz="2400" b="1" dirty="0">
                <a:solidFill>
                  <a:schemeClr val="accent2"/>
                </a:solidFill>
              </a:rPr>
              <a:t>2000'ler sonu</a:t>
            </a:r>
            <a:endParaRPr lang="en-US" sz="2400" dirty="0"/>
          </a:p>
        </p:txBody>
      </p:sp>
      <p:sp>
        <p:nvSpPr>
          <p:cNvPr id="17" name="timeline-card 2000'ler sonu"/>
          <p:cNvSpPr/>
          <p:nvPr/>
        </p:nvSpPr>
        <p:spPr>
          <a:xfrm>
            <a:off x="5065776" y="3520440"/>
            <a:ext cx="2057400" cy="2240280"/>
          </a:xfrm>
          <a:prstGeom prst="roundRect">
            <a:avLst>
              <a:gd name="adj" fmla="val 5333"/>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8" name="Text 16"/>
          <p:cNvSpPr txBox="1"/>
          <p:nvPr/>
        </p:nvSpPr>
        <p:spPr>
          <a:xfrm>
            <a:off x="5248656" y="3703320"/>
            <a:ext cx="1691640" cy="365760"/>
          </a:xfrm>
          <a:prstGeom prst="rect">
            <a:avLst/>
          </a:prstGeom>
          <a:noFill/>
          <a:ln/>
        </p:spPr>
        <p:txBody>
          <a:bodyPr wrap="square" lIns="0" tIns="0" rIns="0" bIns="0" rtlCol="0" anchor="t"/>
          <a:lstStyle/>
          <a:p>
            <a:pPr indent="0" marL="0">
              <a:buNone/>
            </a:pPr>
            <a:r>
              <a:rPr lang="en-US" sz="1800" b="1" dirty="0">
                <a:solidFill>
                  <a:schemeClr val="bg1"/>
                </a:solidFill>
              </a:rPr>
              <a:t>Geri dönüş</a:t>
            </a:r>
            <a:endParaRPr lang="en-US" sz="1800" dirty="0"/>
          </a:p>
        </p:txBody>
      </p:sp>
      <p:sp>
        <p:nvSpPr>
          <p:cNvPr id="19" name="Text 17"/>
          <p:cNvSpPr txBox="1"/>
          <p:nvPr/>
        </p:nvSpPr>
        <p:spPr>
          <a:xfrm>
            <a:off x="5248656" y="4114800"/>
            <a:ext cx="1691640" cy="1554480"/>
          </a:xfrm>
          <a:prstGeom prst="rect">
            <a:avLst/>
          </a:prstGeom>
          <a:noFill/>
          <a:ln/>
        </p:spPr>
        <p:txBody>
          <a:bodyPr wrap="square" lIns="0" tIns="0" rIns="0" bIns="0" rtlCol="0" anchor="t"/>
          <a:lstStyle/>
          <a:p>
            <a:pPr indent="0" marL="0">
              <a:buNone/>
            </a:pPr>
            <a:r>
              <a:rPr lang="en-US" sz="1400" dirty="0">
                <a:solidFill>
                  <a:schemeClr val="accent6"/>
                </a:solidFill>
              </a:rPr>
              <a:t>Rijit tezgahlar, CNC senkronizasyonu ve kaplamalı takımlarla "power skiving" doğar.</a:t>
            </a:r>
            <a:endParaRPr lang="en-US" sz="1400" dirty="0"/>
          </a:p>
        </p:txBody>
      </p:sp>
      <p:sp>
        <p:nvSpPr>
          <p:cNvPr id="20" name="timeline-dot 2010'lar"/>
          <p:cNvSpPr/>
          <p:nvPr/>
        </p:nvSpPr>
        <p:spPr>
          <a:xfrm>
            <a:off x="8170164" y="2880360"/>
            <a:ext cx="365760" cy="365760"/>
          </a:xfrm>
          <a:prstGeom prst="ellipse">
            <a:avLst/>
          </a:prstGeom>
          <a:solidFill>
            <a:schemeClr val="tx2"/>
          </a:solidFill>
          <a:ln w="31750">
            <a:solidFill>
              <a:schemeClr val="accent1"/>
            </a:solidFill>
            <a:prstDash val="solid"/>
          </a:ln>
        </p:spPr>
      </p:sp>
      <p:sp>
        <p:nvSpPr>
          <p:cNvPr id="21" name="Text 19"/>
          <p:cNvSpPr txBox="1"/>
          <p:nvPr/>
        </p:nvSpPr>
        <p:spPr>
          <a:xfrm>
            <a:off x="7301484" y="1965960"/>
            <a:ext cx="2103120" cy="548640"/>
          </a:xfrm>
          <a:prstGeom prst="rect">
            <a:avLst/>
          </a:prstGeom>
          <a:noFill/>
          <a:ln/>
        </p:spPr>
        <p:txBody>
          <a:bodyPr wrap="square" lIns="0" tIns="0" rIns="0" bIns="0" rtlCol="0" anchor="b"/>
          <a:lstStyle/>
          <a:p>
            <a:pPr algn="ctr" indent="0" marL="0">
              <a:buNone/>
            </a:pPr>
            <a:r>
              <a:rPr lang="en-US" sz="2400" b="1" dirty="0">
                <a:solidFill>
                  <a:schemeClr val="accent2"/>
                </a:solidFill>
              </a:rPr>
              <a:t>2010'lar</a:t>
            </a:r>
            <a:endParaRPr lang="en-US" sz="2400" dirty="0"/>
          </a:p>
        </p:txBody>
      </p:sp>
      <p:sp>
        <p:nvSpPr>
          <p:cNvPr id="22" name="timeline-card 2010'lar"/>
          <p:cNvSpPr/>
          <p:nvPr/>
        </p:nvSpPr>
        <p:spPr>
          <a:xfrm>
            <a:off x="7324344" y="3520440"/>
            <a:ext cx="2057400" cy="2240280"/>
          </a:xfrm>
          <a:prstGeom prst="roundRect">
            <a:avLst>
              <a:gd name="adj" fmla="val 5333"/>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3" name="Text 21"/>
          <p:cNvSpPr txBox="1"/>
          <p:nvPr/>
        </p:nvSpPr>
        <p:spPr>
          <a:xfrm>
            <a:off x="7507224" y="3703320"/>
            <a:ext cx="1691640" cy="365760"/>
          </a:xfrm>
          <a:prstGeom prst="rect">
            <a:avLst/>
          </a:prstGeom>
          <a:noFill/>
          <a:ln/>
        </p:spPr>
        <p:txBody>
          <a:bodyPr wrap="square" lIns="0" tIns="0" rIns="0" bIns="0" rtlCol="0" anchor="t"/>
          <a:lstStyle/>
          <a:p>
            <a:pPr indent="0" marL="0">
              <a:buNone/>
            </a:pPr>
            <a:r>
              <a:rPr lang="en-US" sz="1800" b="1" dirty="0">
                <a:solidFill>
                  <a:schemeClr val="bg1"/>
                </a:solidFill>
              </a:rPr>
              <a:t>Yaygınlaşma</a:t>
            </a:r>
            <a:endParaRPr lang="en-US" sz="1800" dirty="0"/>
          </a:p>
        </p:txBody>
      </p:sp>
      <p:sp>
        <p:nvSpPr>
          <p:cNvPr id="24" name="Text 22"/>
          <p:cNvSpPr txBox="1"/>
          <p:nvPr/>
        </p:nvSpPr>
        <p:spPr>
          <a:xfrm>
            <a:off x="7507224" y="4114800"/>
            <a:ext cx="1691640" cy="1554480"/>
          </a:xfrm>
          <a:prstGeom prst="rect">
            <a:avLst/>
          </a:prstGeom>
          <a:noFill/>
          <a:ln/>
        </p:spPr>
        <p:txBody>
          <a:bodyPr wrap="square" lIns="0" tIns="0" rIns="0" bIns="0" rtlCol="0" anchor="t"/>
          <a:lstStyle/>
          <a:p>
            <a:pPr indent="0" marL="0">
              <a:buNone/>
            </a:pPr>
            <a:r>
              <a:rPr lang="en-US" sz="1400" dirty="0">
                <a:solidFill>
                  <a:schemeClr val="accent6"/>
                </a:solidFill>
              </a:rPr>
              <a:t>Dişli tezgahı üreticileri ve çok işlevli tezgahlar skiving'i sunmaya başlar.</a:t>
            </a:r>
            <a:endParaRPr lang="en-US" sz="1400" dirty="0"/>
          </a:p>
        </p:txBody>
      </p:sp>
      <p:sp>
        <p:nvSpPr>
          <p:cNvPr id="25" name="timeline-dot Bugün"/>
          <p:cNvSpPr/>
          <p:nvPr/>
        </p:nvSpPr>
        <p:spPr>
          <a:xfrm>
            <a:off x="10428732" y="2880360"/>
            <a:ext cx="365760" cy="365760"/>
          </a:xfrm>
          <a:prstGeom prst="ellipse">
            <a:avLst/>
          </a:prstGeom>
          <a:solidFill>
            <a:schemeClr val="accent1"/>
          </a:solidFill>
          <a:ln w="31750">
            <a:solidFill>
              <a:schemeClr val="accent1"/>
            </a:solidFill>
            <a:prstDash val="solid"/>
          </a:ln>
        </p:spPr>
      </p:sp>
      <p:sp>
        <p:nvSpPr>
          <p:cNvPr id="26" name="Text 24"/>
          <p:cNvSpPr txBox="1"/>
          <p:nvPr/>
        </p:nvSpPr>
        <p:spPr>
          <a:xfrm>
            <a:off x="9560052" y="1965960"/>
            <a:ext cx="2103120" cy="548640"/>
          </a:xfrm>
          <a:prstGeom prst="rect">
            <a:avLst/>
          </a:prstGeom>
          <a:noFill/>
          <a:ln/>
        </p:spPr>
        <p:txBody>
          <a:bodyPr wrap="square" lIns="0" tIns="0" rIns="0" bIns="0" rtlCol="0" anchor="b"/>
          <a:lstStyle/>
          <a:p>
            <a:pPr algn="ctr" indent="0" marL="0">
              <a:buNone/>
            </a:pPr>
            <a:r>
              <a:rPr lang="en-US" sz="2400" b="1" dirty="0">
                <a:solidFill>
                  <a:schemeClr val="accent1"/>
                </a:solidFill>
              </a:rPr>
              <a:t>Bugün</a:t>
            </a:r>
            <a:endParaRPr lang="en-US" sz="2400" dirty="0"/>
          </a:p>
        </p:txBody>
      </p:sp>
      <p:sp>
        <p:nvSpPr>
          <p:cNvPr id="27" name="timeline-card Bugün"/>
          <p:cNvSpPr/>
          <p:nvPr/>
        </p:nvSpPr>
        <p:spPr>
          <a:xfrm>
            <a:off x="9582912" y="3520440"/>
            <a:ext cx="2057400" cy="2240280"/>
          </a:xfrm>
          <a:prstGeom prst="roundRect">
            <a:avLst>
              <a:gd name="adj" fmla="val 5333"/>
            </a:avLst>
          </a:prstGeom>
          <a:solidFill>
            <a:schemeClr val="accent5"/>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8" name="Text 26"/>
          <p:cNvSpPr txBox="1"/>
          <p:nvPr/>
        </p:nvSpPr>
        <p:spPr>
          <a:xfrm>
            <a:off x="9765792" y="3703320"/>
            <a:ext cx="1691640" cy="365760"/>
          </a:xfrm>
          <a:prstGeom prst="rect">
            <a:avLst/>
          </a:prstGeom>
          <a:noFill/>
          <a:ln/>
        </p:spPr>
        <p:txBody>
          <a:bodyPr wrap="square" lIns="0" tIns="0" rIns="0" bIns="0" rtlCol="0" anchor="t"/>
          <a:lstStyle/>
          <a:p>
            <a:pPr indent="0" marL="0">
              <a:buNone/>
            </a:pPr>
            <a:r>
              <a:rPr lang="en-US" sz="1800" b="1" dirty="0">
                <a:solidFill>
                  <a:schemeClr val="bg1"/>
                </a:solidFill>
              </a:rPr>
              <a:t>Ana akım</a:t>
            </a:r>
            <a:endParaRPr lang="en-US" sz="1800" dirty="0"/>
          </a:p>
        </p:txBody>
      </p:sp>
      <p:sp>
        <p:nvSpPr>
          <p:cNvPr id="29" name="Text 27"/>
          <p:cNvSpPr txBox="1"/>
          <p:nvPr/>
        </p:nvSpPr>
        <p:spPr>
          <a:xfrm>
            <a:off x="9765792" y="4114800"/>
            <a:ext cx="1691640" cy="1554480"/>
          </a:xfrm>
          <a:prstGeom prst="rect">
            <a:avLst/>
          </a:prstGeom>
          <a:noFill/>
          <a:ln/>
        </p:spPr>
        <p:txBody>
          <a:bodyPr wrap="square" lIns="0" tIns="0" rIns="0" bIns="0" rtlCol="0" anchor="t"/>
          <a:lstStyle/>
          <a:p>
            <a:pPr indent="0" marL="0">
              <a:buNone/>
            </a:pPr>
            <a:r>
              <a:rPr lang="en-US" sz="1400" dirty="0">
                <a:solidFill>
                  <a:schemeClr val="accent6"/>
                </a:solidFill>
              </a:rPr>
              <a:t>E-mobilite şanzımanlarında iç dişliler için kilit teknoloji.</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03 · AVANTAJLAR</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Neden gear skiving?</a:t>
            </a:r>
            <a:endParaRPr lang="en-US" sz="3600" dirty="0"/>
          </a:p>
        </p:txBody>
      </p:sp>
      <p:sp>
        <p:nvSpPr>
          <p:cNvPr id="4" name="stat 3–6×"/>
          <p:cNvSpPr/>
          <p:nvPr/>
        </p:nvSpPr>
        <p:spPr>
          <a:xfrm>
            <a:off x="548640" y="1737360"/>
            <a:ext cx="3538728" cy="1965960"/>
          </a:xfrm>
          <a:prstGeom prst="roundRect">
            <a:avLst>
              <a:gd name="adj" fmla="val 5581"/>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5" name="Text 3"/>
          <p:cNvSpPr txBox="1"/>
          <p:nvPr/>
        </p:nvSpPr>
        <p:spPr>
          <a:xfrm>
            <a:off x="868680" y="1920240"/>
            <a:ext cx="2926080" cy="960120"/>
          </a:xfrm>
          <a:prstGeom prst="rect">
            <a:avLst/>
          </a:prstGeom>
          <a:noFill/>
          <a:ln/>
        </p:spPr>
        <p:txBody>
          <a:bodyPr wrap="square" lIns="0" tIns="0" rIns="0" bIns="0" rtlCol="0" anchor="t"/>
          <a:lstStyle/>
          <a:p>
            <a:pPr indent="0" marL="0">
              <a:buNone/>
            </a:pPr>
            <a:r>
              <a:rPr lang="en-US" sz="6000" b="1" dirty="0">
                <a:solidFill>
                  <a:schemeClr val="accent1"/>
                </a:solidFill>
              </a:rPr>
              <a:t>3–6×</a:t>
            </a:r>
            <a:endParaRPr lang="en-US" sz="6000" dirty="0"/>
          </a:p>
        </p:txBody>
      </p:sp>
      <p:sp>
        <p:nvSpPr>
          <p:cNvPr id="6" name="Text 4"/>
          <p:cNvSpPr txBox="1"/>
          <p:nvPr/>
        </p:nvSpPr>
        <p:spPr>
          <a:xfrm>
            <a:off x="868680" y="2926080"/>
            <a:ext cx="2926080" cy="640080"/>
          </a:xfrm>
          <a:prstGeom prst="rect">
            <a:avLst/>
          </a:prstGeom>
          <a:noFill/>
          <a:ln/>
        </p:spPr>
        <p:txBody>
          <a:bodyPr wrap="square" lIns="0" tIns="0" rIns="0" bIns="0" rtlCol="0" anchor="t"/>
          <a:lstStyle/>
          <a:p>
            <a:pPr indent="0" marL="0">
              <a:buNone/>
            </a:pPr>
            <a:r>
              <a:rPr lang="en-US" sz="1500" dirty="0">
                <a:solidFill>
                  <a:schemeClr val="bg2"/>
                </a:solidFill>
              </a:rPr>
              <a:t>vargele göre daha kısa çevrim süresi (tipik)</a:t>
            </a:r>
            <a:endParaRPr lang="en-US" sz="1500" dirty="0"/>
          </a:p>
        </p:txBody>
      </p:sp>
      <p:sp>
        <p:nvSpPr>
          <p:cNvPr id="7" name="stat 1"/>
          <p:cNvSpPr/>
          <p:nvPr/>
        </p:nvSpPr>
        <p:spPr>
          <a:xfrm>
            <a:off x="4325112" y="1737360"/>
            <a:ext cx="3538728" cy="1965960"/>
          </a:xfrm>
          <a:prstGeom prst="roundRect">
            <a:avLst>
              <a:gd name="adj" fmla="val 5581"/>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8" name="Text 6"/>
          <p:cNvSpPr txBox="1"/>
          <p:nvPr/>
        </p:nvSpPr>
        <p:spPr>
          <a:xfrm>
            <a:off x="4645152" y="1920240"/>
            <a:ext cx="2926080" cy="960120"/>
          </a:xfrm>
          <a:prstGeom prst="rect">
            <a:avLst/>
          </a:prstGeom>
          <a:noFill/>
          <a:ln/>
        </p:spPr>
        <p:txBody>
          <a:bodyPr wrap="square" lIns="0" tIns="0" rIns="0" bIns="0" rtlCol="0" anchor="t"/>
          <a:lstStyle/>
          <a:p>
            <a:pPr indent="0" marL="0">
              <a:buNone/>
            </a:pPr>
            <a:r>
              <a:rPr lang="en-US" sz="6000" b="1" dirty="0">
                <a:solidFill>
                  <a:schemeClr val="accent1"/>
                </a:solidFill>
              </a:rPr>
              <a:t>1</a:t>
            </a:r>
            <a:endParaRPr lang="en-US" sz="6000" dirty="0"/>
          </a:p>
        </p:txBody>
      </p:sp>
      <p:sp>
        <p:nvSpPr>
          <p:cNvPr id="9" name="Text 7"/>
          <p:cNvSpPr txBox="1"/>
          <p:nvPr/>
        </p:nvSpPr>
        <p:spPr>
          <a:xfrm>
            <a:off x="4645152" y="2926080"/>
            <a:ext cx="2926080" cy="640080"/>
          </a:xfrm>
          <a:prstGeom prst="rect">
            <a:avLst/>
          </a:prstGeom>
          <a:noFill/>
          <a:ln/>
        </p:spPr>
        <p:txBody>
          <a:bodyPr wrap="square" lIns="0" tIns="0" rIns="0" bIns="0" rtlCol="0" anchor="t"/>
          <a:lstStyle/>
          <a:p>
            <a:pPr indent="0" marL="0">
              <a:buNone/>
            </a:pPr>
            <a:r>
              <a:rPr lang="en-US" sz="1500" dirty="0">
                <a:solidFill>
                  <a:schemeClr val="bg2"/>
                </a:solidFill>
              </a:rPr>
              <a:t>bağlamada tornalama + dişli (çok işlevli tezgah)</a:t>
            </a:r>
            <a:endParaRPr lang="en-US" sz="1500" dirty="0"/>
          </a:p>
        </p:txBody>
      </p:sp>
      <p:sp>
        <p:nvSpPr>
          <p:cNvPr id="10" name="stat DIN 7–8"/>
          <p:cNvSpPr/>
          <p:nvPr/>
        </p:nvSpPr>
        <p:spPr>
          <a:xfrm>
            <a:off x="8101584" y="1737360"/>
            <a:ext cx="3538728" cy="1965960"/>
          </a:xfrm>
          <a:prstGeom prst="roundRect">
            <a:avLst>
              <a:gd name="adj" fmla="val 5581"/>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1" name="Text 9"/>
          <p:cNvSpPr txBox="1"/>
          <p:nvPr/>
        </p:nvSpPr>
        <p:spPr>
          <a:xfrm>
            <a:off x="8421624" y="1920240"/>
            <a:ext cx="2926080" cy="960120"/>
          </a:xfrm>
          <a:prstGeom prst="rect">
            <a:avLst/>
          </a:prstGeom>
          <a:noFill/>
          <a:ln/>
        </p:spPr>
        <p:txBody>
          <a:bodyPr wrap="square" lIns="0" tIns="0" rIns="0" bIns="0" rtlCol="0" anchor="t"/>
          <a:lstStyle/>
          <a:p>
            <a:pPr indent="0" marL="0">
              <a:buNone/>
            </a:pPr>
            <a:r>
              <a:rPr lang="en-US" sz="6000" b="1" dirty="0">
                <a:solidFill>
                  <a:schemeClr val="accent1"/>
                </a:solidFill>
              </a:rPr>
              <a:t>DIN 7–8</a:t>
            </a:r>
            <a:endParaRPr lang="en-US" sz="6000" dirty="0"/>
          </a:p>
        </p:txBody>
      </p:sp>
      <p:sp>
        <p:nvSpPr>
          <p:cNvPr id="12" name="Text 10"/>
          <p:cNvSpPr txBox="1"/>
          <p:nvPr/>
        </p:nvSpPr>
        <p:spPr>
          <a:xfrm>
            <a:off x="8421624" y="2926080"/>
            <a:ext cx="2926080" cy="640080"/>
          </a:xfrm>
          <a:prstGeom prst="rect">
            <a:avLst/>
          </a:prstGeom>
          <a:noFill/>
          <a:ln/>
        </p:spPr>
        <p:txBody>
          <a:bodyPr wrap="square" lIns="0" tIns="0" rIns="0" bIns="0" rtlCol="0" anchor="t"/>
          <a:lstStyle/>
          <a:p>
            <a:pPr indent="0" marL="0">
              <a:buNone/>
            </a:pPr>
            <a:r>
              <a:rPr lang="en-US" sz="1500" dirty="0">
                <a:solidFill>
                  <a:schemeClr val="bg2"/>
                </a:solidFill>
              </a:rPr>
              <a:t>tipik dişli kalitesi, uygun koşullarda daha iyisi</a:t>
            </a:r>
            <a:endParaRPr lang="en-US" sz="1500" dirty="0"/>
          </a:p>
        </p:txBody>
      </p:sp>
      <p:sp>
        <p:nvSpPr>
          <p:cNvPr id="13" name="icon-ring FaWrench"/>
          <p:cNvSpPr/>
          <p:nvPr/>
        </p:nvSpPr>
        <p:spPr>
          <a:xfrm>
            <a:off x="548640" y="4069080"/>
            <a:ext cx="566928" cy="566928"/>
          </a:xfrm>
          <a:prstGeom prst="ellipse">
            <a:avLst/>
          </a:prstGeom>
          <a:solidFill>
            <a:schemeClr val="tx2"/>
          </a:solidFill>
          <a:ln w="19050">
            <a:solidFill>
              <a:schemeClr val="accent1"/>
            </a:solidFill>
            <a:prstDash val="solid"/>
          </a:ln>
        </p:spPr>
      </p:sp>
      <p:pic>
        <p:nvPicPr>
          <p:cNvPr id="14" name="icon FaWrench" descr="/home/claude/deck/assets/FaWrench-orange.png">    </p:cNvPr>
          <p:cNvPicPr>
            <a:picLocks noChangeAspect="1"/>
          </p:cNvPicPr>
          <p:nvPr/>
        </p:nvPicPr>
        <p:blipFill>
          <a:blip r:embed="rId1"/>
          <a:stretch>
            <a:fillRect/>
          </a:stretch>
        </p:blipFill>
        <p:spPr>
          <a:xfrm>
            <a:off x="690372" y="4210812"/>
            <a:ext cx="283464" cy="283464"/>
          </a:xfrm>
          <a:prstGeom prst="rect">
            <a:avLst/>
          </a:prstGeom>
        </p:spPr>
      </p:pic>
      <p:sp>
        <p:nvSpPr>
          <p:cNvPr id="15" name="Text 12"/>
          <p:cNvSpPr txBox="1"/>
          <p:nvPr/>
        </p:nvSpPr>
        <p:spPr>
          <a:xfrm>
            <a:off x="1325880" y="4050792"/>
            <a:ext cx="4663440" cy="320040"/>
          </a:xfrm>
          <a:prstGeom prst="rect">
            <a:avLst/>
          </a:prstGeom>
          <a:noFill/>
          <a:ln/>
        </p:spPr>
        <p:txBody>
          <a:bodyPr wrap="square" lIns="0" tIns="0" rIns="0" bIns="0" rtlCol="0" anchor="t"/>
          <a:lstStyle/>
          <a:p>
            <a:pPr indent="0" marL="0">
              <a:buNone/>
            </a:pPr>
            <a:r>
              <a:rPr lang="en-US" sz="1700" b="1" dirty="0">
                <a:solidFill>
                  <a:schemeClr val="bg1"/>
                </a:solidFill>
              </a:rPr>
              <a:t>Broş gerekmez</a:t>
            </a:r>
            <a:endParaRPr lang="en-US" sz="1700" dirty="0"/>
          </a:p>
        </p:txBody>
      </p:sp>
      <p:sp>
        <p:nvSpPr>
          <p:cNvPr id="16" name="Text 13"/>
          <p:cNvSpPr txBox="1"/>
          <p:nvPr/>
        </p:nvSpPr>
        <p:spPr>
          <a:xfrm>
            <a:off x="1325880" y="4398264"/>
            <a:ext cx="4663440" cy="640080"/>
          </a:xfrm>
          <a:prstGeom prst="rect">
            <a:avLst/>
          </a:prstGeom>
          <a:noFill/>
          <a:ln/>
        </p:spPr>
        <p:txBody>
          <a:bodyPr wrap="square" lIns="0" tIns="0" rIns="0" bIns="0" rtlCol="0" anchor="t"/>
          <a:lstStyle/>
          <a:p>
            <a:pPr indent="0" marL="0">
              <a:buNone/>
            </a:pPr>
            <a:r>
              <a:rPr lang="en-US" sz="1400" dirty="0">
                <a:solidFill>
                  <a:schemeClr val="accent6"/>
                </a:solidFill>
              </a:rPr>
              <a:t>Parça değişiminde pahalı, parçaya özel broş takımı ve broş tezgahı ihtiyacı ortadan kalkar.</a:t>
            </a:r>
            <a:endParaRPr lang="en-US" sz="1400" dirty="0"/>
          </a:p>
        </p:txBody>
      </p:sp>
      <p:sp>
        <p:nvSpPr>
          <p:cNvPr id="17" name="icon-ring FaCrosshairs"/>
          <p:cNvSpPr/>
          <p:nvPr/>
        </p:nvSpPr>
        <p:spPr>
          <a:xfrm>
            <a:off x="6217920" y="4069080"/>
            <a:ext cx="566928" cy="566928"/>
          </a:xfrm>
          <a:prstGeom prst="ellipse">
            <a:avLst/>
          </a:prstGeom>
          <a:solidFill>
            <a:schemeClr val="tx2"/>
          </a:solidFill>
          <a:ln w="19050">
            <a:solidFill>
              <a:schemeClr val="accent1"/>
            </a:solidFill>
            <a:prstDash val="solid"/>
          </a:ln>
        </p:spPr>
      </p:sp>
      <p:pic>
        <p:nvPicPr>
          <p:cNvPr id="18" name="icon FaCrosshairs" descr="/home/claude/deck/assets/FaCrosshairs-orange.png">    </p:cNvPr>
          <p:cNvPicPr>
            <a:picLocks noChangeAspect="1"/>
          </p:cNvPicPr>
          <p:nvPr/>
        </p:nvPicPr>
        <p:blipFill>
          <a:blip r:embed="rId2"/>
          <a:stretch>
            <a:fillRect/>
          </a:stretch>
        </p:blipFill>
        <p:spPr>
          <a:xfrm>
            <a:off x="6359652" y="4210812"/>
            <a:ext cx="283464" cy="283464"/>
          </a:xfrm>
          <a:prstGeom prst="rect">
            <a:avLst/>
          </a:prstGeom>
        </p:spPr>
      </p:pic>
      <p:sp>
        <p:nvSpPr>
          <p:cNvPr id="19" name="Text 15"/>
          <p:cNvSpPr txBox="1"/>
          <p:nvPr/>
        </p:nvSpPr>
        <p:spPr>
          <a:xfrm>
            <a:off x="6995160" y="4050792"/>
            <a:ext cx="4663440" cy="320040"/>
          </a:xfrm>
          <a:prstGeom prst="rect">
            <a:avLst/>
          </a:prstGeom>
          <a:noFill/>
          <a:ln/>
        </p:spPr>
        <p:txBody>
          <a:bodyPr wrap="square" lIns="0" tIns="0" rIns="0" bIns="0" rtlCol="0" anchor="t"/>
          <a:lstStyle/>
          <a:p>
            <a:pPr indent="0" marL="0">
              <a:buNone/>
            </a:pPr>
            <a:r>
              <a:rPr lang="en-US" sz="1700" b="1" dirty="0">
                <a:solidFill>
                  <a:schemeClr val="bg1"/>
                </a:solidFill>
              </a:rPr>
              <a:t>Omuza yakın kesim</a:t>
            </a:r>
            <a:endParaRPr lang="en-US" sz="1700" dirty="0"/>
          </a:p>
        </p:txBody>
      </p:sp>
      <p:sp>
        <p:nvSpPr>
          <p:cNvPr id="20" name="Text 16"/>
          <p:cNvSpPr txBox="1"/>
          <p:nvPr/>
        </p:nvSpPr>
        <p:spPr>
          <a:xfrm>
            <a:off x="6995160" y="4398264"/>
            <a:ext cx="4663440" cy="640080"/>
          </a:xfrm>
          <a:prstGeom prst="rect">
            <a:avLst/>
          </a:prstGeom>
          <a:noFill/>
          <a:ln/>
        </p:spPr>
        <p:txBody>
          <a:bodyPr wrap="square" lIns="0" tIns="0" rIns="0" bIns="0" rtlCol="0" anchor="t"/>
          <a:lstStyle/>
          <a:p>
            <a:pPr indent="0" marL="0">
              <a:buNone/>
            </a:pPr>
            <a:r>
              <a:rPr lang="en-US" sz="1400" dirty="0">
                <a:solidFill>
                  <a:schemeClr val="accent6"/>
                </a:solidFill>
              </a:rPr>
              <a:t>Kısa takım kaçışıyla kör iç dişliler ve omuzlu parçalar açılabilir.</a:t>
            </a:r>
            <a:endParaRPr lang="en-US" sz="1400" dirty="0"/>
          </a:p>
        </p:txBody>
      </p:sp>
      <p:sp>
        <p:nvSpPr>
          <p:cNvPr id="21" name="icon-ring FaGaugeHigh"/>
          <p:cNvSpPr/>
          <p:nvPr/>
        </p:nvSpPr>
        <p:spPr>
          <a:xfrm>
            <a:off x="548640" y="5166360"/>
            <a:ext cx="566928" cy="566928"/>
          </a:xfrm>
          <a:prstGeom prst="ellipse">
            <a:avLst/>
          </a:prstGeom>
          <a:solidFill>
            <a:schemeClr val="tx2"/>
          </a:solidFill>
          <a:ln w="19050">
            <a:solidFill>
              <a:schemeClr val="accent1"/>
            </a:solidFill>
            <a:prstDash val="solid"/>
          </a:ln>
        </p:spPr>
      </p:sp>
      <p:pic>
        <p:nvPicPr>
          <p:cNvPr id="22" name="icon FaGaugeHigh" descr="/home/claude/deck/assets/FaGaugeHigh-orange.png">    </p:cNvPr>
          <p:cNvPicPr>
            <a:picLocks noChangeAspect="1"/>
          </p:cNvPicPr>
          <p:nvPr/>
        </p:nvPicPr>
        <p:blipFill>
          <a:blip r:embed="rId3"/>
          <a:stretch>
            <a:fillRect/>
          </a:stretch>
        </p:blipFill>
        <p:spPr>
          <a:xfrm>
            <a:off x="690372" y="5308092"/>
            <a:ext cx="283464" cy="283464"/>
          </a:xfrm>
          <a:prstGeom prst="rect">
            <a:avLst/>
          </a:prstGeom>
        </p:spPr>
      </p:pic>
      <p:sp>
        <p:nvSpPr>
          <p:cNvPr id="23" name="Text 18"/>
          <p:cNvSpPr txBox="1"/>
          <p:nvPr/>
        </p:nvSpPr>
        <p:spPr>
          <a:xfrm>
            <a:off x="1325880" y="5148072"/>
            <a:ext cx="4663440" cy="320040"/>
          </a:xfrm>
          <a:prstGeom prst="rect">
            <a:avLst/>
          </a:prstGeom>
          <a:noFill/>
          <a:ln/>
        </p:spPr>
        <p:txBody>
          <a:bodyPr wrap="square" lIns="0" tIns="0" rIns="0" bIns="0" rtlCol="0" anchor="t"/>
          <a:lstStyle/>
          <a:p>
            <a:pPr indent="0" marL="0">
              <a:buNone/>
            </a:pPr>
            <a:r>
              <a:rPr lang="en-US" sz="1700" b="1" dirty="0">
                <a:solidFill>
                  <a:schemeClr val="bg1"/>
                </a:solidFill>
              </a:rPr>
              <a:t>Sürekli süreç</a:t>
            </a:r>
            <a:endParaRPr lang="en-US" sz="1700" dirty="0"/>
          </a:p>
        </p:txBody>
      </p:sp>
      <p:sp>
        <p:nvSpPr>
          <p:cNvPr id="24" name="Text 19"/>
          <p:cNvSpPr txBox="1"/>
          <p:nvPr/>
        </p:nvSpPr>
        <p:spPr>
          <a:xfrm>
            <a:off x="1325880" y="5495544"/>
            <a:ext cx="4663440" cy="640080"/>
          </a:xfrm>
          <a:prstGeom prst="rect">
            <a:avLst/>
          </a:prstGeom>
          <a:noFill/>
          <a:ln/>
        </p:spPr>
        <p:txBody>
          <a:bodyPr wrap="square" lIns="0" tIns="0" rIns="0" bIns="0" rtlCol="0" anchor="t"/>
          <a:lstStyle/>
          <a:p>
            <a:pPr indent="0" marL="0">
              <a:buNone/>
            </a:pPr>
            <a:r>
              <a:rPr lang="en-US" sz="1400" dirty="0">
                <a:solidFill>
                  <a:schemeClr val="accent6"/>
                </a:solidFill>
              </a:rPr>
              <a:t>Vargel gibi boşta dönüş stroku yok; her an talaş kaldırılır.</a:t>
            </a:r>
            <a:endParaRPr lang="en-US" sz="1400" dirty="0"/>
          </a:p>
        </p:txBody>
      </p:sp>
      <p:sp>
        <p:nvSpPr>
          <p:cNvPr id="25" name="icon-ring FaBoxesStacked"/>
          <p:cNvSpPr/>
          <p:nvPr/>
        </p:nvSpPr>
        <p:spPr>
          <a:xfrm>
            <a:off x="6217920" y="5166360"/>
            <a:ext cx="566928" cy="566928"/>
          </a:xfrm>
          <a:prstGeom prst="ellipse">
            <a:avLst/>
          </a:prstGeom>
          <a:solidFill>
            <a:schemeClr val="tx2"/>
          </a:solidFill>
          <a:ln w="19050">
            <a:solidFill>
              <a:schemeClr val="accent1"/>
            </a:solidFill>
            <a:prstDash val="solid"/>
          </a:ln>
        </p:spPr>
      </p:sp>
      <p:pic>
        <p:nvPicPr>
          <p:cNvPr id="26" name="icon FaBoxesStacked" descr="/home/claude/deck/assets/FaBoxesStacked-orange.png">    </p:cNvPr>
          <p:cNvPicPr>
            <a:picLocks noChangeAspect="1"/>
          </p:cNvPicPr>
          <p:nvPr/>
        </p:nvPicPr>
        <p:blipFill>
          <a:blip r:embed="rId4"/>
          <a:stretch>
            <a:fillRect/>
          </a:stretch>
        </p:blipFill>
        <p:spPr>
          <a:xfrm>
            <a:off x="6359652" y="5308092"/>
            <a:ext cx="283464" cy="283464"/>
          </a:xfrm>
          <a:prstGeom prst="rect">
            <a:avLst/>
          </a:prstGeom>
        </p:spPr>
      </p:pic>
      <p:sp>
        <p:nvSpPr>
          <p:cNvPr id="27" name="Text 21"/>
          <p:cNvSpPr txBox="1"/>
          <p:nvPr/>
        </p:nvSpPr>
        <p:spPr>
          <a:xfrm>
            <a:off x="6995160" y="5148072"/>
            <a:ext cx="4663440" cy="320040"/>
          </a:xfrm>
          <a:prstGeom prst="rect">
            <a:avLst/>
          </a:prstGeom>
          <a:noFill/>
          <a:ln/>
        </p:spPr>
        <p:txBody>
          <a:bodyPr wrap="square" lIns="0" tIns="0" rIns="0" bIns="0" rtlCol="0" anchor="t"/>
          <a:lstStyle/>
          <a:p>
            <a:pPr indent="0" marL="0">
              <a:buNone/>
            </a:pPr>
            <a:r>
              <a:rPr lang="en-US" sz="1700" b="1" dirty="0">
                <a:solidFill>
                  <a:schemeClr val="bg1"/>
                </a:solidFill>
              </a:rPr>
              <a:t>Daha az lojistik</a:t>
            </a:r>
            <a:endParaRPr lang="en-US" sz="1700" dirty="0"/>
          </a:p>
        </p:txBody>
      </p:sp>
      <p:sp>
        <p:nvSpPr>
          <p:cNvPr id="28" name="Text 22"/>
          <p:cNvSpPr txBox="1"/>
          <p:nvPr/>
        </p:nvSpPr>
        <p:spPr>
          <a:xfrm>
            <a:off x="6995160" y="5495544"/>
            <a:ext cx="4663440" cy="640080"/>
          </a:xfrm>
          <a:prstGeom prst="rect">
            <a:avLst/>
          </a:prstGeom>
          <a:noFill/>
          <a:ln/>
        </p:spPr>
        <p:txBody>
          <a:bodyPr wrap="square" lIns="0" tIns="0" rIns="0" bIns="0" rtlCol="0" anchor="t"/>
          <a:lstStyle/>
          <a:p>
            <a:pPr indent="0" marL="0">
              <a:buNone/>
            </a:pPr>
            <a:r>
              <a:rPr lang="en-US" sz="1400" dirty="0">
                <a:solidFill>
                  <a:schemeClr val="accent6"/>
                </a:solidFill>
              </a:rPr>
              <a:t>Parça tezgahlar arasında taşınmaz, bağlama hataları azalır.</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04 · KARŞILAŞTIRMA</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Yöntemler yan yana</a:t>
            </a:r>
            <a:endParaRPr lang="en-US" sz="3600" dirty="0"/>
          </a:p>
        </p:txBody>
      </p:sp>
      <p:graphicFrame>
        <p:nvGraphicFramePr>
          <p:cNvPr id="9" name="comparison-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862072"/>
                <a:gridCol w="1965960"/>
                <a:gridCol w="1965960"/>
                <a:gridCol w="2057400"/>
                <a:gridCol w="2240280"/>
              </a:tblGrid>
              <a:tr h="548640">
                <a:tc>
                  <a:txBody>
                    <a:bodyPr/>
                    <a:lstStyle/>
                    <a:p>
                      <a:pPr algn="l" indent="0" marL="0">
                        <a:buNone/>
                      </a:pPr>
                      <a:r>
                        <a:rPr lang="en-US" sz="1500" b="1" dirty="0">
                          <a:solidFill>
                            <a:schemeClr val="bg1"/>
                          </a:solidFill>
                        </a:rPr>
                        <a:t>Kriter</a:t>
                      </a:r>
                      <a:endParaRPr lang="en-US" sz="15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accent5"/>
                    </a:solidFill>
                  </a:tcPr>
                </a:tc>
                <a:tc>
                  <a:txBody>
                    <a:bodyPr/>
                    <a:lstStyle/>
                    <a:p>
                      <a:pPr algn="ctr" indent="0" marL="0">
                        <a:buNone/>
                      </a:pPr>
                      <a:r>
                        <a:rPr lang="en-US" sz="1500" b="1" dirty="0">
                          <a:solidFill>
                            <a:schemeClr val="bg1"/>
                          </a:solidFill>
                        </a:rPr>
                        <a:t>Azdırma</a:t>
                      </a:r>
                      <a:endParaRPr lang="en-US" sz="15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accent5"/>
                    </a:solidFill>
                  </a:tcPr>
                </a:tc>
                <a:tc>
                  <a:txBody>
                    <a:bodyPr/>
                    <a:lstStyle/>
                    <a:p>
                      <a:pPr algn="ctr" indent="0" marL="0">
                        <a:buNone/>
                      </a:pPr>
                      <a:r>
                        <a:rPr lang="en-US" sz="1500" b="1" dirty="0">
                          <a:solidFill>
                            <a:schemeClr val="bg1"/>
                          </a:solidFill>
                        </a:rPr>
                        <a:t>Vargel</a:t>
                      </a:r>
                      <a:endParaRPr lang="en-US" sz="15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accent5"/>
                    </a:solidFill>
                  </a:tcPr>
                </a:tc>
                <a:tc>
                  <a:txBody>
                    <a:bodyPr/>
                    <a:lstStyle/>
                    <a:p>
                      <a:pPr algn="ctr" indent="0" marL="0">
                        <a:buNone/>
                      </a:pPr>
                      <a:r>
                        <a:rPr lang="en-US" sz="1500" b="1" dirty="0">
                          <a:solidFill>
                            <a:schemeClr val="bg1"/>
                          </a:solidFill>
                        </a:rPr>
                        <a:t>Broşlama</a:t>
                      </a:r>
                      <a:endParaRPr lang="en-US" sz="15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accent5"/>
                    </a:solidFill>
                  </a:tcPr>
                </a:tc>
                <a:tc>
                  <a:txBody>
                    <a:bodyPr/>
                    <a:lstStyle/>
                    <a:p>
                      <a:pPr algn="ctr" indent="0" marL="0">
                        <a:buNone/>
                      </a:pPr>
                      <a:r>
                        <a:rPr lang="en-US" sz="1500" b="1" dirty="0">
                          <a:solidFill>
                            <a:schemeClr val="tx1"/>
                          </a:solidFill>
                        </a:rPr>
                        <a:t>Gear Skiving</a:t>
                      </a:r>
                      <a:endParaRPr lang="en-US" sz="15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accent1"/>
                    </a:solidFill>
                  </a:tcPr>
                </a:tc>
              </a:tr>
              <a:tr h="566928">
                <a:tc>
                  <a:txBody>
                    <a:bodyPr/>
                    <a:lstStyle/>
                    <a:p>
                      <a:pPr algn="l" indent="0" marL="0">
                        <a:buNone/>
                      </a:pPr>
                      <a:r>
                        <a:rPr lang="en-US" sz="1400" b="1" dirty="0">
                          <a:solidFill>
                            <a:schemeClr val="bg1"/>
                          </a:solidFill>
                        </a:rPr>
                        <a:t>İç dişli</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2000" b="1" dirty="0">
                          <a:solidFill>
                            <a:schemeClr val="accent4"/>
                          </a:solidFill>
                        </a:rPr>
                        <a:t>✗</a:t>
                      </a:r>
                      <a:endParaRPr lang="en-US" sz="20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2000" b="1" dirty="0">
                          <a:solidFill>
                            <a:schemeClr val="accent3"/>
                          </a:solidFill>
                        </a:rPr>
                        <a:t>✓</a:t>
                      </a:r>
                      <a:endParaRPr lang="en-US" sz="20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2000" b="1" dirty="0">
                          <a:solidFill>
                            <a:schemeClr val="accent3"/>
                          </a:solidFill>
                        </a:rPr>
                        <a:t>✓</a:t>
                      </a:r>
                      <a:endParaRPr lang="en-US" sz="20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2000" b="1" dirty="0">
                          <a:solidFill>
                            <a:schemeClr val="accent2"/>
                          </a:solidFill>
                        </a:rPr>
                        <a:t>✓</a:t>
                      </a:r>
                      <a:endParaRPr lang="en-US" sz="20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rgbClr val="2A1A12"/>
                    </a:solidFill>
                  </a:tcPr>
                </a:tc>
              </a:tr>
              <a:tr h="566928">
                <a:tc>
                  <a:txBody>
                    <a:bodyPr/>
                    <a:lstStyle/>
                    <a:p>
                      <a:pPr algn="l" indent="0" marL="0">
                        <a:buNone/>
                      </a:pPr>
                      <a:r>
                        <a:rPr lang="en-US" sz="1400" b="1" dirty="0">
                          <a:solidFill>
                            <a:schemeClr val="bg1"/>
                          </a:solidFill>
                        </a:rPr>
                        <a:t>Kör delik / omuza yakın</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Sınırlı</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2000" b="1" dirty="0">
                          <a:solidFill>
                            <a:schemeClr val="accent3"/>
                          </a:solidFill>
                        </a:rPr>
                        <a:t>✓</a:t>
                      </a:r>
                      <a:endParaRPr lang="en-US" sz="20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2000" b="1" dirty="0">
                          <a:solidFill>
                            <a:schemeClr val="accent4"/>
                          </a:solidFill>
                        </a:rPr>
                        <a:t>✗</a:t>
                      </a:r>
                      <a:endParaRPr lang="en-US" sz="20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2000" b="1" dirty="0">
                          <a:solidFill>
                            <a:schemeClr val="accent2"/>
                          </a:solidFill>
                        </a:rPr>
                        <a:t>✓</a:t>
                      </a:r>
                      <a:endParaRPr lang="en-US" sz="20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rgbClr val="2A1A12"/>
                    </a:solidFill>
                  </a:tcPr>
                </a:tc>
              </a:tr>
              <a:tr h="566928">
                <a:tc>
                  <a:txBody>
                    <a:bodyPr/>
                    <a:lstStyle/>
                    <a:p>
                      <a:pPr algn="l" indent="0" marL="0">
                        <a:buNone/>
                      </a:pPr>
                      <a:r>
                        <a:rPr lang="en-US" sz="1400" b="1" dirty="0">
                          <a:solidFill>
                            <a:schemeClr val="bg1"/>
                          </a:solidFill>
                        </a:rPr>
                        <a:t>Verimlilik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rPr>
                        <a:t>Yüksek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rPr>
                        <a:t>Düşük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rPr>
                        <a:t>Çok yüksek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2"/>
                          </a:solidFill>
                        </a:rPr>
                        <a:t>Yüksek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rgbClr val="2A1A12"/>
                    </a:solidFill>
                  </a:tcPr>
                </a:tc>
              </a:tr>
              <a:tr h="566928">
                <a:tc>
                  <a:txBody>
                    <a:bodyPr/>
                    <a:lstStyle/>
                    <a:p>
                      <a:pPr algn="l" indent="0" marL="0">
                        <a:buNone/>
                      </a:pPr>
                      <a:r>
                        <a:rPr lang="en-US" sz="1400" b="1" dirty="0">
                          <a:solidFill>
                            <a:schemeClr val="bg1"/>
                          </a:solidFill>
                        </a:rPr>
                        <a:t>Esneklik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Orta</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Yüksek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Çok düşük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2"/>
                          </a:solidFill>
                        </a:rPr>
                        <a:t>Yüksek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rgbClr val="2A1A12"/>
                    </a:solidFill>
                  </a:tcPr>
                </a:tc>
              </a:tr>
              <a:tr h="566928">
                <a:tc>
                  <a:txBody>
                    <a:bodyPr/>
                    <a:lstStyle/>
                    <a:p>
                      <a:pPr algn="l" indent="0" marL="0">
                        <a:buNone/>
                      </a:pPr>
                      <a:r>
                        <a:rPr lang="en-US" sz="1400" b="1" dirty="0">
                          <a:solidFill>
                            <a:schemeClr val="bg1"/>
                          </a:solidFill>
                        </a:rPr>
                        <a:t>Takım maliyeti</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rPr>
                        <a:t>Orta</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rPr>
                        <a:t>Düşük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rPr>
                        <a:t>Çok yüksek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2"/>
                          </a:solidFill>
                        </a:rPr>
                        <a:t>Orta–yüksek</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rgbClr val="2A1A12"/>
                    </a:solidFill>
                  </a:tcPr>
                </a:tc>
              </a:tr>
              <a:tr h="566928">
                <a:tc>
                  <a:txBody>
                    <a:bodyPr/>
                    <a:lstStyle/>
                    <a:p>
                      <a:pPr algn="l" indent="0" marL="0">
                        <a:buNone/>
                      </a:pPr>
                      <a:r>
                        <a:rPr lang="en-US" sz="1400" b="1" dirty="0">
                          <a:solidFill>
                            <a:schemeClr val="bg1"/>
                          </a:solidFill>
                        </a:rPr>
                        <a:t>Tezgah gereksinimi</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Azdırma tezgahı</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Vargel tezgahı</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Broş tezgahı</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2"/>
                          </a:solidFill>
                        </a:rPr>
                        <a:t>Rijit, senkron CNC</a:t>
                      </a:r>
                      <a:endParaRPr lang="en-US" sz="1400" dirty="0"/>
                    </a:p>
                  </a:txBody>
                  <a:tcPr marL="137160" marR="137160" marT="0" marB="0" anchor="ctr">
                    <a:lnL w="9525" cap="flat" cmpd="sng" algn="ctr">
                      <a:solidFill>
                        <a:srgbClr val="26324A"/>
                      </a:solidFill>
                      <a:prstDash val="solid"/>
                      <a:round/>
                      <a:headEnd type="none" w="med" len="med"/>
                      <a:tailEnd type="none" w="med" len="med"/>
                    </a:lnL>
                    <a:lnR w="9525" cap="flat" cmpd="sng" algn="ctr">
                      <a:solidFill>
                        <a:srgbClr val="26324A"/>
                      </a:solidFill>
                      <a:prstDash val="solid"/>
                      <a:round/>
                      <a:headEnd type="none" w="med" len="med"/>
                      <a:tailEnd type="none" w="med" len="med"/>
                    </a:lnR>
                    <a:lnT w="9525" cap="flat" cmpd="sng" algn="ctr">
                      <a:solidFill>
                        <a:srgbClr val="26324A"/>
                      </a:solidFill>
                      <a:prstDash val="solid"/>
                      <a:round/>
                      <a:headEnd type="none" w="med" len="med"/>
                      <a:tailEnd type="none" w="med" len="med"/>
                    </a:lnT>
                    <a:lnB w="9525" cap="flat" cmpd="sng" algn="ctr">
                      <a:solidFill>
                        <a:srgbClr val="26324A"/>
                      </a:solidFill>
                      <a:prstDash val="solid"/>
                      <a:round/>
                      <a:headEnd type="none" w="med" len="med"/>
                      <a:tailEnd type="none" w="med" len="med"/>
                    </a:lnB>
                    <a:solidFill>
                      <a:srgbClr val="2A1A12"/>
                    </a:solidFill>
                  </a:tcPr>
                </a:tc>
              </a:tr>
            </a:tbl>
          </a:graphicData>
        </a:graphic>
      </p:graphicFrame>
      <p:sp>
        <p:nvSpPr>
          <p:cNvPr id="5" name="Text 2"/>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100" i="1" dirty="0">
                <a:solidFill>
                  <a:schemeClr val="accent4"/>
                </a:solidFill>
              </a:rPr>
              <a:t>Değerlendirmeler genel eğilimleri gösterir; parça geometrisi, parti büyüklüğü ve tezgah donanımına göre değişir.</a:t>
            </a:r>
            <a:endParaRPr lang="en-US" sz="11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05 · TAKIM</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Takım: sürecin kalbi</a:t>
            </a:r>
            <a:endParaRPr lang="en-US" sz="3600" dirty="0"/>
          </a:p>
        </p:txBody>
      </p:sp>
      <p:sp>
        <p:nvSpPr>
          <p:cNvPr id="4" name="tool-card Takım tipleri"/>
          <p:cNvSpPr/>
          <p:nvPr/>
        </p:nvSpPr>
        <p:spPr>
          <a:xfrm>
            <a:off x="548640" y="1783080"/>
            <a:ext cx="5422392"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5" name="icon-circle FaGear"/>
          <p:cNvSpPr/>
          <p:nvPr/>
        </p:nvSpPr>
        <p:spPr>
          <a:xfrm>
            <a:off x="868680" y="2103120"/>
            <a:ext cx="640080" cy="640080"/>
          </a:xfrm>
          <a:prstGeom prst="ellipse">
            <a:avLst/>
          </a:prstGeom>
          <a:solidFill>
            <a:schemeClr val="accent1"/>
          </a:solidFill>
          <a:ln w="12700">
            <a:solidFill>
              <a:schemeClr val="accent1"/>
            </a:solidFill>
            <a:prstDash val="solid"/>
          </a:ln>
        </p:spPr>
      </p:sp>
      <p:pic>
        <p:nvPicPr>
          <p:cNvPr id="6" name="icon FaGear" descr="/home/claude/deck/assets/FaGear-dark.png">    </p:cNvPr>
          <p:cNvPicPr>
            <a:picLocks noChangeAspect="1"/>
          </p:cNvPicPr>
          <p:nvPr/>
        </p:nvPicPr>
        <p:blipFill>
          <a:blip r:embed="rId1"/>
          <a:stretch>
            <a:fillRect/>
          </a:stretch>
        </p:blipFill>
        <p:spPr>
          <a:xfrm>
            <a:off x="1028700" y="2263140"/>
            <a:ext cx="320040" cy="320040"/>
          </a:xfrm>
          <a:prstGeom prst="rect">
            <a:avLst/>
          </a:prstGeom>
        </p:spPr>
      </p:pic>
      <p:sp>
        <p:nvSpPr>
          <p:cNvPr id="7" name="Text 4"/>
          <p:cNvSpPr txBox="1"/>
          <p:nvPr/>
        </p:nvSpPr>
        <p:spPr>
          <a:xfrm>
            <a:off x="1737360" y="2130552"/>
            <a:ext cx="3959352" cy="411480"/>
          </a:xfrm>
          <a:prstGeom prst="rect">
            <a:avLst/>
          </a:prstGeom>
          <a:noFill/>
          <a:ln/>
        </p:spPr>
        <p:txBody>
          <a:bodyPr wrap="square" lIns="0" tIns="0" rIns="0" bIns="0" rtlCol="0" anchor="t"/>
          <a:lstStyle/>
          <a:p>
            <a:pPr indent="0" marL="0">
              <a:buNone/>
            </a:pPr>
            <a:r>
              <a:rPr lang="en-US" sz="2000" b="1" dirty="0">
                <a:solidFill>
                  <a:schemeClr val="bg1"/>
                </a:solidFill>
              </a:rPr>
              <a:t>Takım tipleri</a:t>
            </a:r>
            <a:endParaRPr lang="en-US" sz="2000" dirty="0"/>
          </a:p>
        </p:txBody>
      </p:sp>
      <p:sp>
        <p:nvSpPr>
          <p:cNvPr id="8" name="Text 5"/>
          <p:cNvSpPr txBox="1"/>
          <p:nvPr/>
        </p:nvSpPr>
        <p:spPr>
          <a:xfrm>
            <a:off x="1737360" y="2587752"/>
            <a:ext cx="3959352" cy="1051560"/>
          </a:xfrm>
          <a:prstGeom prst="rect">
            <a:avLst/>
          </a:prstGeom>
          <a:noFill/>
          <a:ln/>
        </p:spPr>
        <p:txBody>
          <a:bodyPr wrap="square" lIns="0" tIns="0" rIns="0" bIns="0" rtlCol="0" anchor="t"/>
          <a:lstStyle/>
          <a:p>
            <a:pPr indent="0" marL="0">
              <a:buNone/>
            </a:pPr>
            <a:r>
              <a:rPr lang="en-US" sz="1500" dirty="0">
                <a:solidFill>
                  <a:schemeClr val="accent6"/>
                </a:solidFill>
              </a:rPr>
              <a:t>Disk tipi ve saplı tip; silindirik veya konik formda. Kör iç dişliler için ince, saplı takımlar öne çıkar.</a:t>
            </a:r>
            <a:endParaRPr lang="en-US" sz="1500" dirty="0"/>
          </a:p>
        </p:txBody>
      </p:sp>
      <p:sp>
        <p:nvSpPr>
          <p:cNvPr id="9" name="tool-card Malzeme ve kaplama"/>
          <p:cNvSpPr/>
          <p:nvPr/>
        </p:nvSpPr>
        <p:spPr>
          <a:xfrm>
            <a:off x="6217920" y="1783080"/>
            <a:ext cx="5422392"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0" name="icon-circle FaFlask"/>
          <p:cNvSpPr/>
          <p:nvPr/>
        </p:nvSpPr>
        <p:spPr>
          <a:xfrm>
            <a:off x="6537960" y="2103120"/>
            <a:ext cx="640080" cy="640080"/>
          </a:xfrm>
          <a:prstGeom prst="ellipse">
            <a:avLst/>
          </a:prstGeom>
          <a:solidFill>
            <a:schemeClr val="accent1"/>
          </a:solidFill>
          <a:ln w="12700">
            <a:solidFill>
              <a:schemeClr val="accent1"/>
            </a:solidFill>
            <a:prstDash val="solid"/>
          </a:ln>
        </p:spPr>
      </p:sp>
      <p:pic>
        <p:nvPicPr>
          <p:cNvPr id="11" name="icon FaFlask" descr="/home/claude/deck/assets/FaFlask-dark.png">    </p:cNvPr>
          <p:cNvPicPr>
            <a:picLocks noChangeAspect="1"/>
          </p:cNvPicPr>
          <p:nvPr/>
        </p:nvPicPr>
        <p:blipFill>
          <a:blip r:embed="rId2"/>
          <a:stretch>
            <a:fillRect/>
          </a:stretch>
        </p:blipFill>
        <p:spPr>
          <a:xfrm>
            <a:off x="6697980" y="2263140"/>
            <a:ext cx="320040" cy="320040"/>
          </a:xfrm>
          <a:prstGeom prst="rect">
            <a:avLst/>
          </a:prstGeom>
        </p:spPr>
      </p:pic>
      <p:sp>
        <p:nvSpPr>
          <p:cNvPr id="12" name="Text 8"/>
          <p:cNvSpPr txBox="1"/>
          <p:nvPr/>
        </p:nvSpPr>
        <p:spPr>
          <a:xfrm>
            <a:off x="7406640" y="2130552"/>
            <a:ext cx="3959352" cy="411480"/>
          </a:xfrm>
          <a:prstGeom prst="rect">
            <a:avLst/>
          </a:prstGeom>
          <a:noFill/>
          <a:ln/>
        </p:spPr>
        <p:txBody>
          <a:bodyPr wrap="square" lIns="0" tIns="0" rIns="0" bIns="0" rtlCol="0" anchor="t"/>
          <a:lstStyle/>
          <a:p>
            <a:pPr indent="0" marL="0">
              <a:buNone/>
            </a:pPr>
            <a:r>
              <a:rPr lang="en-US" sz="2000" b="1" dirty="0">
                <a:solidFill>
                  <a:schemeClr val="bg1"/>
                </a:solidFill>
              </a:rPr>
              <a:t>Malzeme ve kaplama</a:t>
            </a:r>
            <a:endParaRPr lang="en-US" sz="2000" dirty="0"/>
          </a:p>
        </p:txBody>
      </p:sp>
      <p:sp>
        <p:nvSpPr>
          <p:cNvPr id="13" name="Text 9"/>
          <p:cNvSpPr txBox="1"/>
          <p:nvPr/>
        </p:nvSpPr>
        <p:spPr>
          <a:xfrm>
            <a:off x="7406640" y="2587752"/>
            <a:ext cx="3959352" cy="1051560"/>
          </a:xfrm>
          <a:prstGeom prst="rect">
            <a:avLst/>
          </a:prstGeom>
          <a:noFill/>
          <a:ln/>
        </p:spPr>
        <p:txBody>
          <a:bodyPr wrap="square" lIns="0" tIns="0" rIns="0" bIns="0" rtlCol="0" anchor="t"/>
          <a:lstStyle/>
          <a:p>
            <a:pPr indent="0" marL="0">
              <a:buNone/>
            </a:pPr>
            <a:r>
              <a:rPr lang="en-US" sz="1500" dirty="0">
                <a:solidFill>
                  <a:schemeClr val="accent6"/>
                </a:solidFill>
              </a:rPr>
              <a:t>Kaplamalı PM-HSS veya karbür. Büyük modüllerde kesici uçlu tasarımlar kullanılır.</a:t>
            </a:r>
            <a:endParaRPr lang="en-US" sz="1500" dirty="0"/>
          </a:p>
        </p:txBody>
      </p:sp>
      <p:sp>
        <p:nvSpPr>
          <p:cNvPr id="14" name="tool-card Diş sayısı seçimi"/>
          <p:cNvSpPr/>
          <p:nvPr/>
        </p:nvSpPr>
        <p:spPr>
          <a:xfrm>
            <a:off x="548640" y="4069080"/>
            <a:ext cx="5422392"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5" name="icon-circle FaCompassDrafting"/>
          <p:cNvSpPr/>
          <p:nvPr/>
        </p:nvSpPr>
        <p:spPr>
          <a:xfrm>
            <a:off x="868680" y="4389120"/>
            <a:ext cx="640080" cy="640080"/>
          </a:xfrm>
          <a:prstGeom prst="ellipse">
            <a:avLst/>
          </a:prstGeom>
          <a:solidFill>
            <a:schemeClr val="accent1"/>
          </a:solidFill>
          <a:ln w="12700">
            <a:solidFill>
              <a:schemeClr val="accent1"/>
            </a:solidFill>
            <a:prstDash val="solid"/>
          </a:ln>
        </p:spPr>
      </p:sp>
      <p:pic>
        <p:nvPicPr>
          <p:cNvPr id="16" name="icon FaCompassDrafting" descr="/home/claude/deck/assets/FaCompassDrafting-dark.png">    </p:cNvPr>
          <p:cNvPicPr>
            <a:picLocks noChangeAspect="1"/>
          </p:cNvPicPr>
          <p:nvPr/>
        </p:nvPicPr>
        <p:blipFill>
          <a:blip r:embed="rId3"/>
          <a:stretch>
            <a:fillRect/>
          </a:stretch>
        </p:blipFill>
        <p:spPr>
          <a:xfrm>
            <a:off x="1028700" y="4549140"/>
            <a:ext cx="320040" cy="320040"/>
          </a:xfrm>
          <a:prstGeom prst="rect">
            <a:avLst/>
          </a:prstGeom>
        </p:spPr>
      </p:pic>
      <p:sp>
        <p:nvSpPr>
          <p:cNvPr id="17" name="Text 12"/>
          <p:cNvSpPr txBox="1"/>
          <p:nvPr/>
        </p:nvSpPr>
        <p:spPr>
          <a:xfrm>
            <a:off x="1737360" y="4416552"/>
            <a:ext cx="3959352" cy="411480"/>
          </a:xfrm>
          <a:prstGeom prst="rect">
            <a:avLst/>
          </a:prstGeom>
          <a:noFill/>
          <a:ln/>
        </p:spPr>
        <p:txBody>
          <a:bodyPr wrap="square" lIns="0" tIns="0" rIns="0" bIns="0" rtlCol="0" anchor="t"/>
          <a:lstStyle/>
          <a:p>
            <a:pPr indent="0" marL="0">
              <a:buNone/>
            </a:pPr>
            <a:r>
              <a:rPr lang="en-US" sz="2000" b="1" dirty="0">
                <a:solidFill>
                  <a:schemeClr val="bg1"/>
                </a:solidFill>
              </a:rPr>
              <a:t>Diş sayısı seçimi</a:t>
            </a:r>
            <a:endParaRPr lang="en-US" sz="2000" dirty="0"/>
          </a:p>
        </p:txBody>
      </p:sp>
      <p:sp>
        <p:nvSpPr>
          <p:cNvPr id="18" name="Text 13"/>
          <p:cNvSpPr txBox="1"/>
          <p:nvPr/>
        </p:nvSpPr>
        <p:spPr>
          <a:xfrm>
            <a:off x="1737360" y="4873752"/>
            <a:ext cx="3959352" cy="1051560"/>
          </a:xfrm>
          <a:prstGeom prst="rect">
            <a:avLst/>
          </a:prstGeom>
          <a:noFill/>
          <a:ln/>
        </p:spPr>
        <p:txBody>
          <a:bodyPr wrap="square" lIns="0" tIns="0" rIns="0" bIns="0" rtlCol="0" anchor="t"/>
          <a:lstStyle/>
          <a:p>
            <a:pPr indent="0" marL="0">
              <a:buNone/>
            </a:pPr>
            <a:r>
              <a:rPr lang="en-US" sz="1500" dirty="0">
                <a:solidFill>
                  <a:schemeClr val="accent6"/>
                </a:solidFill>
              </a:rPr>
              <a:t>Takım diş sayısı, iş parçasıyla ortak böleni olmayacak şekilde seçilerek aşınma dişlere yayılır.</a:t>
            </a:r>
            <a:endParaRPr lang="en-US" sz="1500" dirty="0"/>
          </a:p>
        </p:txBody>
      </p:sp>
      <p:sp>
        <p:nvSpPr>
          <p:cNvPr id="19" name="tool-card Etkin talaş açısı"/>
          <p:cNvSpPr/>
          <p:nvPr/>
        </p:nvSpPr>
        <p:spPr>
          <a:xfrm>
            <a:off x="6217920" y="4069080"/>
            <a:ext cx="5422392"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0" name="icon-circle FaTriangleExclamation"/>
          <p:cNvSpPr/>
          <p:nvPr/>
        </p:nvSpPr>
        <p:spPr>
          <a:xfrm>
            <a:off x="6537960" y="4389120"/>
            <a:ext cx="640080" cy="640080"/>
          </a:xfrm>
          <a:prstGeom prst="ellipse">
            <a:avLst/>
          </a:prstGeom>
          <a:solidFill>
            <a:schemeClr val="accent1"/>
          </a:solidFill>
          <a:ln w="12700">
            <a:solidFill>
              <a:schemeClr val="accent1"/>
            </a:solidFill>
            <a:prstDash val="solid"/>
          </a:ln>
        </p:spPr>
      </p:sp>
      <p:pic>
        <p:nvPicPr>
          <p:cNvPr id="21" name="icon FaTriangleExclamation" descr="/home/claude/deck/assets/FaTriangleExclamation-dark.png">    </p:cNvPr>
          <p:cNvPicPr>
            <a:picLocks noChangeAspect="1"/>
          </p:cNvPicPr>
          <p:nvPr/>
        </p:nvPicPr>
        <p:blipFill>
          <a:blip r:embed="rId4"/>
          <a:stretch>
            <a:fillRect/>
          </a:stretch>
        </p:blipFill>
        <p:spPr>
          <a:xfrm>
            <a:off x="6697980" y="4549140"/>
            <a:ext cx="320040" cy="320040"/>
          </a:xfrm>
          <a:prstGeom prst="rect">
            <a:avLst/>
          </a:prstGeom>
        </p:spPr>
      </p:pic>
      <p:sp>
        <p:nvSpPr>
          <p:cNvPr id="22" name="Text 16"/>
          <p:cNvSpPr txBox="1"/>
          <p:nvPr/>
        </p:nvSpPr>
        <p:spPr>
          <a:xfrm>
            <a:off x="7406640" y="4416552"/>
            <a:ext cx="3959352" cy="411480"/>
          </a:xfrm>
          <a:prstGeom prst="rect">
            <a:avLst/>
          </a:prstGeom>
          <a:noFill/>
          <a:ln/>
        </p:spPr>
        <p:txBody>
          <a:bodyPr wrap="square" lIns="0" tIns="0" rIns="0" bIns="0" rtlCol="0" anchor="t"/>
          <a:lstStyle/>
          <a:p>
            <a:pPr indent="0" marL="0">
              <a:buNone/>
            </a:pPr>
            <a:r>
              <a:rPr lang="en-US" sz="2000" b="1" dirty="0">
                <a:solidFill>
                  <a:schemeClr val="bg1"/>
                </a:solidFill>
              </a:rPr>
              <a:t>Etkin talaş açısı</a:t>
            </a:r>
            <a:endParaRPr lang="en-US" sz="2000" dirty="0"/>
          </a:p>
        </p:txBody>
      </p:sp>
      <p:sp>
        <p:nvSpPr>
          <p:cNvPr id="23" name="Text 17"/>
          <p:cNvSpPr txBox="1"/>
          <p:nvPr/>
        </p:nvSpPr>
        <p:spPr>
          <a:xfrm>
            <a:off x="7406640" y="4873752"/>
            <a:ext cx="3959352" cy="1051560"/>
          </a:xfrm>
          <a:prstGeom prst="rect">
            <a:avLst/>
          </a:prstGeom>
          <a:noFill/>
          <a:ln/>
        </p:spPr>
        <p:txBody>
          <a:bodyPr wrap="square" lIns="0" tIns="0" rIns="0" bIns="0" rtlCol="0" anchor="t"/>
          <a:lstStyle/>
          <a:p>
            <a:pPr indent="0" marL="0">
              <a:buNone/>
            </a:pPr>
            <a:r>
              <a:rPr lang="en-US" sz="1500" dirty="0">
                <a:solidFill>
                  <a:schemeClr val="accent6"/>
                </a:solidFill>
              </a:rPr>
              <a:t>Talaş açısı kesim boyunca değişir ve negatife düşebilir; aşınma ve yüzey kalitesi için kritik tasarım parametresidir.</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05 · TEZGAH VE KONTROL</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Tezgahtan beklenenler</a:t>
            </a:r>
            <a:endParaRPr lang="en-US" sz="3600" dirty="0"/>
          </a:p>
        </p:txBody>
      </p:sp>
      <p:sp>
        <p:nvSpPr>
          <p:cNvPr id="4" name="icon-circle FaShieldHalved"/>
          <p:cNvSpPr/>
          <p:nvPr/>
        </p:nvSpPr>
        <p:spPr>
          <a:xfrm>
            <a:off x="548640" y="1783080"/>
            <a:ext cx="566928" cy="566928"/>
          </a:xfrm>
          <a:prstGeom prst="ellipse">
            <a:avLst/>
          </a:prstGeom>
          <a:solidFill>
            <a:schemeClr val="accent1"/>
          </a:solidFill>
          <a:ln w="12700">
            <a:solidFill>
              <a:schemeClr val="accent1"/>
            </a:solidFill>
            <a:prstDash val="solid"/>
          </a:ln>
        </p:spPr>
      </p:sp>
      <p:pic>
        <p:nvPicPr>
          <p:cNvPr id="5" name="icon FaShieldHalved" descr="/home/claude/deck/assets/FaShieldHalved-dark.png">    </p:cNvPr>
          <p:cNvPicPr>
            <a:picLocks noChangeAspect="1"/>
          </p:cNvPicPr>
          <p:nvPr/>
        </p:nvPicPr>
        <p:blipFill>
          <a:blip r:embed="rId1"/>
          <a:stretch>
            <a:fillRect/>
          </a:stretch>
        </p:blipFill>
        <p:spPr>
          <a:xfrm>
            <a:off x="690372" y="1924812"/>
            <a:ext cx="283464" cy="283464"/>
          </a:xfrm>
          <a:prstGeom prst="rect">
            <a:avLst/>
          </a:prstGeom>
        </p:spPr>
      </p:pic>
      <p:sp>
        <p:nvSpPr>
          <p:cNvPr id="6" name="Text 3"/>
          <p:cNvSpPr txBox="1"/>
          <p:nvPr/>
        </p:nvSpPr>
        <p:spPr>
          <a:xfrm>
            <a:off x="1325880" y="1764792"/>
            <a:ext cx="5852160" cy="320040"/>
          </a:xfrm>
          <a:prstGeom prst="rect">
            <a:avLst/>
          </a:prstGeom>
          <a:noFill/>
          <a:ln/>
        </p:spPr>
        <p:txBody>
          <a:bodyPr wrap="square" lIns="0" tIns="0" rIns="0" bIns="0" rtlCol="0" anchor="t"/>
          <a:lstStyle/>
          <a:p>
            <a:pPr indent="0" marL="0">
              <a:buNone/>
            </a:pPr>
            <a:r>
              <a:rPr lang="en-US" sz="1700" b="1" dirty="0">
                <a:solidFill>
                  <a:schemeClr val="bg1"/>
                </a:solidFill>
              </a:rPr>
              <a:t>Rijitlik ve sönümleme</a:t>
            </a:r>
            <a:endParaRPr lang="en-US" sz="1700" dirty="0"/>
          </a:p>
        </p:txBody>
      </p:sp>
      <p:sp>
        <p:nvSpPr>
          <p:cNvPr id="7" name="Text 4"/>
          <p:cNvSpPr txBox="1"/>
          <p:nvPr/>
        </p:nvSpPr>
        <p:spPr>
          <a:xfrm>
            <a:off x="1325880" y="2093976"/>
            <a:ext cx="5852160" cy="365760"/>
          </a:xfrm>
          <a:prstGeom prst="rect">
            <a:avLst/>
          </a:prstGeom>
          <a:noFill/>
          <a:ln/>
        </p:spPr>
        <p:txBody>
          <a:bodyPr wrap="square" lIns="0" tIns="0" rIns="0" bIns="0" rtlCol="0" anchor="t"/>
          <a:lstStyle/>
          <a:p>
            <a:pPr indent="0" marL="0">
              <a:buNone/>
            </a:pPr>
            <a:r>
              <a:rPr lang="en-US" sz="1400" dirty="0">
                <a:solidFill>
                  <a:schemeClr val="accent6"/>
                </a:solidFill>
              </a:rPr>
              <a:t>Sürekli ve kesintili temas yükleri titreşime yol açabilir.</a:t>
            </a:r>
            <a:endParaRPr lang="en-US" sz="1400" dirty="0"/>
          </a:p>
        </p:txBody>
      </p:sp>
      <p:sp>
        <p:nvSpPr>
          <p:cNvPr id="8" name="icon-circle FaRotate"/>
          <p:cNvSpPr/>
          <p:nvPr/>
        </p:nvSpPr>
        <p:spPr>
          <a:xfrm>
            <a:off x="548640" y="2651760"/>
            <a:ext cx="566928" cy="566928"/>
          </a:xfrm>
          <a:prstGeom prst="ellipse">
            <a:avLst/>
          </a:prstGeom>
          <a:solidFill>
            <a:schemeClr val="accent1"/>
          </a:solidFill>
          <a:ln w="12700">
            <a:solidFill>
              <a:schemeClr val="accent1"/>
            </a:solidFill>
            <a:prstDash val="solid"/>
          </a:ln>
        </p:spPr>
      </p:sp>
      <p:pic>
        <p:nvPicPr>
          <p:cNvPr id="9" name="icon FaRotate" descr="/home/claude/deck/assets/FaRotate-dark.png">    </p:cNvPr>
          <p:cNvPicPr>
            <a:picLocks noChangeAspect="1"/>
          </p:cNvPicPr>
          <p:nvPr/>
        </p:nvPicPr>
        <p:blipFill>
          <a:blip r:embed="rId2"/>
          <a:stretch>
            <a:fillRect/>
          </a:stretch>
        </p:blipFill>
        <p:spPr>
          <a:xfrm>
            <a:off x="690372" y="2793492"/>
            <a:ext cx="283464" cy="283464"/>
          </a:xfrm>
          <a:prstGeom prst="rect">
            <a:avLst/>
          </a:prstGeom>
        </p:spPr>
      </p:pic>
      <p:sp>
        <p:nvSpPr>
          <p:cNvPr id="10" name="Text 6"/>
          <p:cNvSpPr txBox="1"/>
          <p:nvPr/>
        </p:nvSpPr>
        <p:spPr>
          <a:xfrm>
            <a:off x="1325880" y="2633472"/>
            <a:ext cx="5852160" cy="320040"/>
          </a:xfrm>
          <a:prstGeom prst="rect">
            <a:avLst/>
          </a:prstGeom>
          <a:noFill/>
          <a:ln/>
        </p:spPr>
        <p:txBody>
          <a:bodyPr wrap="square" lIns="0" tIns="0" rIns="0" bIns="0" rtlCol="0" anchor="t"/>
          <a:lstStyle/>
          <a:p>
            <a:pPr indent="0" marL="0">
              <a:buNone/>
            </a:pPr>
            <a:r>
              <a:rPr lang="en-US" sz="1700" b="1" dirty="0">
                <a:solidFill>
                  <a:schemeClr val="bg1"/>
                </a:solidFill>
              </a:rPr>
              <a:t>Hassas senkronizasyon</a:t>
            </a:r>
            <a:endParaRPr lang="en-US" sz="1700" dirty="0"/>
          </a:p>
        </p:txBody>
      </p:sp>
      <p:sp>
        <p:nvSpPr>
          <p:cNvPr id="11" name="Text 7"/>
          <p:cNvSpPr txBox="1"/>
          <p:nvPr/>
        </p:nvSpPr>
        <p:spPr>
          <a:xfrm>
            <a:off x="1325880" y="2962656"/>
            <a:ext cx="5852160" cy="365760"/>
          </a:xfrm>
          <a:prstGeom prst="rect">
            <a:avLst/>
          </a:prstGeom>
          <a:noFill/>
          <a:ln/>
        </p:spPr>
        <p:txBody>
          <a:bodyPr wrap="square" lIns="0" tIns="0" rIns="0" bIns="0" rtlCol="0" anchor="t"/>
          <a:lstStyle/>
          <a:p>
            <a:pPr indent="0" marL="0">
              <a:buNone/>
            </a:pPr>
            <a:r>
              <a:rPr lang="en-US" sz="1400" dirty="0">
                <a:solidFill>
                  <a:schemeClr val="accent6"/>
                </a:solidFill>
              </a:rPr>
              <a:t>Takım ve iş mili, yüksek devirde elektronik olarak kilitlenir.</a:t>
            </a:r>
            <a:endParaRPr lang="en-US" sz="1400" dirty="0"/>
          </a:p>
        </p:txBody>
      </p:sp>
      <p:sp>
        <p:nvSpPr>
          <p:cNvPr id="12" name="icon-circle FaCompassDrafting"/>
          <p:cNvSpPr/>
          <p:nvPr/>
        </p:nvSpPr>
        <p:spPr>
          <a:xfrm>
            <a:off x="548640" y="3520440"/>
            <a:ext cx="566928" cy="566928"/>
          </a:xfrm>
          <a:prstGeom prst="ellipse">
            <a:avLst/>
          </a:prstGeom>
          <a:solidFill>
            <a:schemeClr val="accent1"/>
          </a:solidFill>
          <a:ln w="12700">
            <a:solidFill>
              <a:schemeClr val="accent1"/>
            </a:solidFill>
            <a:prstDash val="solid"/>
          </a:ln>
        </p:spPr>
      </p:sp>
      <p:pic>
        <p:nvPicPr>
          <p:cNvPr id="13" name="icon FaCompassDrafting" descr="/home/claude/deck/assets/FaCompassDrafting-dark.png">    </p:cNvPr>
          <p:cNvPicPr>
            <a:picLocks noChangeAspect="1"/>
          </p:cNvPicPr>
          <p:nvPr/>
        </p:nvPicPr>
        <p:blipFill>
          <a:blip r:embed="rId3"/>
          <a:stretch>
            <a:fillRect/>
          </a:stretch>
        </p:blipFill>
        <p:spPr>
          <a:xfrm>
            <a:off x="690372" y="3662172"/>
            <a:ext cx="283464" cy="283464"/>
          </a:xfrm>
          <a:prstGeom prst="rect">
            <a:avLst/>
          </a:prstGeom>
        </p:spPr>
      </p:pic>
      <p:sp>
        <p:nvSpPr>
          <p:cNvPr id="14" name="Text 9"/>
          <p:cNvSpPr txBox="1"/>
          <p:nvPr/>
        </p:nvSpPr>
        <p:spPr>
          <a:xfrm>
            <a:off x="1325880" y="3502152"/>
            <a:ext cx="5852160" cy="320040"/>
          </a:xfrm>
          <a:prstGeom prst="rect">
            <a:avLst/>
          </a:prstGeom>
          <a:noFill/>
          <a:ln/>
        </p:spPr>
        <p:txBody>
          <a:bodyPr wrap="square" lIns="0" tIns="0" rIns="0" bIns="0" rtlCol="0" anchor="t"/>
          <a:lstStyle/>
          <a:p>
            <a:pPr indent="0" marL="0">
              <a:buNone/>
            </a:pPr>
            <a:r>
              <a:rPr lang="en-US" sz="1700" b="1" dirty="0">
                <a:solidFill>
                  <a:schemeClr val="bg1"/>
                </a:solidFill>
              </a:rPr>
              <a:t>Eğilebilen takım ekseni</a:t>
            </a:r>
            <a:endParaRPr lang="en-US" sz="1700" dirty="0"/>
          </a:p>
        </p:txBody>
      </p:sp>
      <p:sp>
        <p:nvSpPr>
          <p:cNvPr id="15" name="Text 10"/>
          <p:cNvSpPr txBox="1"/>
          <p:nvPr/>
        </p:nvSpPr>
        <p:spPr>
          <a:xfrm>
            <a:off x="1325880" y="3831336"/>
            <a:ext cx="5852160" cy="365760"/>
          </a:xfrm>
          <a:prstGeom prst="rect">
            <a:avLst/>
          </a:prstGeom>
          <a:noFill/>
          <a:ln/>
        </p:spPr>
        <p:txBody>
          <a:bodyPr wrap="square" lIns="0" tIns="0" rIns="0" bIns="0" rtlCol="0" anchor="t"/>
          <a:lstStyle/>
          <a:p>
            <a:pPr indent="0" marL="0">
              <a:buNone/>
            </a:pPr>
            <a:r>
              <a:rPr lang="en-US" sz="1400" dirty="0">
                <a:solidFill>
                  <a:schemeClr val="accent6"/>
                </a:solidFill>
              </a:rPr>
              <a:t>Σ açısını kurmak için B ekseni veya özel kinematik.</a:t>
            </a:r>
            <a:endParaRPr lang="en-US" sz="1400" dirty="0"/>
          </a:p>
        </p:txBody>
      </p:sp>
      <p:sp>
        <p:nvSpPr>
          <p:cNvPr id="16" name="icon-circle FaMicrochip"/>
          <p:cNvSpPr/>
          <p:nvPr/>
        </p:nvSpPr>
        <p:spPr>
          <a:xfrm>
            <a:off x="548640" y="4389120"/>
            <a:ext cx="566928" cy="566928"/>
          </a:xfrm>
          <a:prstGeom prst="ellipse">
            <a:avLst/>
          </a:prstGeom>
          <a:solidFill>
            <a:schemeClr val="accent1"/>
          </a:solidFill>
          <a:ln w="12700">
            <a:solidFill>
              <a:schemeClr val="accent1"/>
            </a:solidFill>
            <a:prstDash val="solid"/>
          </a:ln>
        </p:spPr>
      </p:sp>
      <p:pic>
        <p:nvPicPr>
          <p:cNvPr id="17" name="icon FaMicrochip" descr="/home/claude/deck/assets/FaMicrochip-dark.png">    </p:cNvPr>
          <p:cNvPicPr>
            <a:picLocks noChangeAspect="1"/>
          </p:cNvPicPr>
          <p:nvPr/>
        </p:nvPicPr>
        <p:blipFill>
          <a:blip r:embed="rId4"/>
          <a:stretch>
            <a:fillRect/>
          </a:stretch>
        </p:blipFill>
        <p:spPr>
          <a:xfrm>
            <a:off x="690372" y="4530852"/>
            <a:ext cx="283464" cy="283464"/>
          </a:xfrm>
          <a:prstGeom prst="rect">
            <a:avLst/>
          </a:prstGeom>
        </p:spPr>
      </p:pic>
      <p:sp>
        <p:nvSpPr>
          <p:cNvPr id="18" name="Text 12"/>
          <p:cNvSpPr txBox="1"/>
          <p:nvPr/>
        </p:nvSpPr>
        <p:spPr>
          <a:xfrm>
            <a:off x="1325880" y="4370832"/>
            <a:ext cx="5852160" cy="320040"/>
          </a:xfrm>
          <a:prstGeom prst="rect">
            <a:avLst/>
          </a:prstGeom>
          <a:noFill/>
          <a:ln/>
        </p:spPr>
        <p:txBody>
          <a:bodyPr wrap="square" lIns="0" tIns="0" rIns="0" bIns="0" rtlCol="0" anchor="t"/>
          <a:lstStyle/>
          <a:p>
            <a:pPr indent="0" marL="0">
              <a:buNone/>
            </a:pPr>
            <a:r>
              <a:rPr lang="en-US" sz="1700" b="1" dirty="0">
                <a:solidFill>
                  <a:schemeClr val="bg1"/>
                </a:solidFill>
              </a:rPr>
              <a:t>Hazır döngüler</a:t>
            </a:r>
            <a:endParaRPr lang="en-US" sz="1700" dirty="0"/>
          </a:p>
        </p:txBody>
      </p:sp>
      <p:sp>
        <p:nvSpPr>
          <p:cNvPr id="19" name="Text 13"/>
          <p:cNvSpPr txBox="1"/>
          <p:nvPr/>
        </p:nvSpPr>
        <p:spPr>
          <a:xfrm>
            <a:off x="1325880" y="4700016"/>
            <a:ext cx="5852160" cy="365760"/>
          </a:xfrm>
          <a:prstGeom prst="rect">
            <a:avLst/>
          </a:prstGeom>
          <a:noFill/>
          <a:ln/>
        </p:spPr>
        <p:txBody>
          <a:bodyPr wrap="square" lIns="0" tIns="0" rIns="0" bIns="0" rtlCol="0" anchor="t"/>
          <a:lstStyle/>
          <a:p>
            <a:pPr indent="0" marL="0">
              <a:buNone/>
            </a:pPr>
            <a:r>
              <a:rPr lang="en-US" sz="1400" dirty="0">
                <a:solidFill>
                  <a:schemeClr val="accent6"/>
                </a:solidFill>
              </a:rPr>
              <a:t>Kontrol ve tezgah üreticilerinin skiving döngüleri programlamayı kolaylaştırır.</a:t>
            </a:r>
            <a:endParaRPr lang="en-US" sz="1400" dirty="0"/>
          </a:p>
        </p:txBody>
      </p:sp>
      <p:sp>
        <p:nvSpPr>
          <p:cNvPr id="20" name="icon-circle FaComputer"/>
          <p:cNvSpPr/>
          <p:nvPr/>
        </p:nvSpPr>
        <p:spPr>
          <a:xfrm>
            <a:off x="548640" y="5257800"/>
            <a:ext cx="566928" cy="566928"/>
          </a:xfrm>
          <a:prstGeom prst="ellipse">
            <a:avLst/>
          </a:prstGeom>
          <a:solidFill>
            <a:schemeClr val="accent1"/>
          </a:solidFill>
          <a:ln w="12700">
            <a:solidFill>
              <a:schemeClr val="accent1"/>
            </a:solidFill>
            <a:prstDash val="solid"/>
          </a:ln>
        </p:spPr>
      </p:sp>
      <p:pic>
        <p:nvPicPr>
          <p:cNvPr id="21" name="icon FaComputer" descr="/home/claude/deck/assets/FaComputer-dark.png">    </p:cNvPr>
          <p:cNvPicPr>
            <a:picLocks noChangeAspect="1"/>
          </p:cNvPicPr>
          <p:nvPr/>
        </p:nvPicPr>
        <p:blipFill>
          <a:blip r:embed="rId5"/>
          <a:stretch>
            <a:fillRect/>
          </a:stretch>
        </p:blipFill>
        <p:spPr>
          <a:xfrm>
            <a:off x="690372" y="5399532"/>
            <a:ext cx="283464" cy="283464"/>
          </a:xfrm>
          <a:prstGeom prst="rect">
            <a:avLst/>
          </a:prstGeom>
        </p:spPr>
      </p:pic>
      <p:sp>
        <p:nvSpPr>
          <p:cNvPr id="22" name="Text 15"/>
          <p:cNvSpPr txBox="1"/>
          <p:nvPr/>
        </p:nvSpPr>
        <p:spPr>
          <a:xfrm>
            <a:off x="1325880" y="5239512"/>
            <a:ext cx="5852160" cy="320040"/>
          </a:xfrm>
          <a:prstGeom prst="rect">
            <a:avLst/>
          </a:prstGeom>
          <a:noFill/>
          <a:ln/>
        </p:spPr>
        <p:txBody>
          <a:bodyPr wrap="square" lIns="0" tIns="0" rIns="0" bIns="0" rtlCol="0" anchor="t"/>
          <a:lstStyle/>
          <a:p>
            <a:pPr indent="0" marL="0">
              <a:buNone/>
            </a:pPr>
            <a:r>
              <a:rPr lang="en-US" sz="1700" b="1" dirty="0">
                <a:solidFill>
                  <a:schemeClr val="bg1"/>
                </a:solidFill>
              </a:rPr>
              <a:t>CAM ve simülasyon</a:t>
            </a:r>
            <a:endParaRPr lang="en-US" sz="1700" dirty="0"/>
          </a:p>
        </p:txBody>
      </p:sp>
      <p:sp>
        <p:nvSpPr>
          <p:cNvPr id="23" name="Text 16"/>
          <p:cNvSpPr txBox="1"/>
          <p:nvPr/>
        </p:nvSpPr>
        <p:spPr>
          <a:xfrm>
            <a:off x="1325880" y="5568696"/>
            <a:ext cx="5852160" cy="365760"/>
          </a:xfrm>
          <a:prstGeom prst="rect">
            <a:avLst/>
          </a:prstGeom>
          <a:noFill/>
          <a:ln/>
        </p:spPr>
        <p:txBody>
          <a:bodyPr wrap="square" lIns="0" tIns="0" rIns="0" bIns="0" rtlCol="0" anchor="t"/>
          <a:lstStyle/>
          <a:p>
            <a:pPr indent="0" marL="0">
              <a:buNone/>
            </a:pPr>
            <a:r>
              <a:rPr lang="en-US" sz="1400" dirty="0">
                <a:solidFill>
                  <a:schemeClr val="accent6"/>
                </a:solidFill>
              </a:rPr>
              <a:t>Çarpışma, talaş kesiti ve takım yükü önceden analiz edilir.</a:t>
            </a:r>
            <a:endParaRPr lang="en-US" sz="1400" dirty="0"/>
          </a:p>
        </p:txBody>
      </p:sp>
      <p:sp>
        <p:nvSpPr>
          <p:cNvPr id="24" name="machine-types"/>
          <p:cNvSpPr/>
          <p:nvPr/>
        </p:nvSpPr>
        <p:spPr>
          <a:xfrm>
            <a:off x="7635240" y="1737360"/>
            <a:ext cx="4005072" cy="4389120"/>
          </a:xfrm>
          <a:prstGeom prst="roundRect">
            <a:avLst>
              <a:gd name="adj" fmla="val 2740"/>
            </a:avLst>
          </a:prstGeom>
          <a:solidFill>
            <a:schemeClr val="accent5"/>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5" name="Text 18"/>
          <p:cNvSpPr txBox="1"/>
          <p:nvPr/>
        </p:nvSpPr>
        <p:spPr>
          <a:xfrm>
            <a:off x="7955280" y="1965960"/>
            <a:ext cx="3474720" cy="274320"/>
          </a:xfrm>
          <a:prstGeom prst="rect">
            <a:avLst/>
          </a:prstGeom>
          <a:noFill/>
          <a:ln/>
        </p:spPr>
        <p:txBody>
          <a:bodyPr wrap="square" lIns="0" tIns="0" rIns="0" bIns="0" rtlCol="0" anchor="t"/>
          <a:lstStyle/>
          <a:p>
            <a:pPr indent="0" marL="0">
              <a:buNone/>
            </a:pPr>
            <a:r>
              <a:rPr lang="en-US" sz="1100" b="1" spc="300" kern="0" dirty="0">
                <a:solidFill>
                  <a:schemeClr val="accent2"/>
                </a:solidFill>
              </a:rPr>
              <a:t>TEZGAH TİPLERİ</a:t>
            </a:r>
            <a:endParaRPr lang="en-US" sz="1100" dirty="0"/>
          </a:p>
        </p:txBody>
      </p:sp>
      <p:sp>
        <p:nvSpPr>
          <p:cNvPr id="26" name="Text 19"/>
          <p:cNvSpPr txBox="1"/>
          <p:nvPr/>
        </p:nvSpPr>
        <p:spPr>
          <a:xfrm>
            <a:off x="7955280" y="2423160"/>
            <a:ext cx="457200" cy="548640"/>
          </a:xfrm>
          <a:prstGeom prst="rect">
            <a:avLst/>
          </a:prstGeom>
          <a:noFill/>
          <a:ln/>
        </p:spPr>
        <p:txBody>
          <a:bodyPr wrap="square" lIns="0" tIns="0" rIns="0" bIns="0" rtlCol="0" anchor="t"/>
          <a:lstStyle/>
          <a:p>
            <a:pPr indent="0" marL="0">
              <a:buNone/>
            </a:pPr>
            <a:r>
              <a:rPr lang="en-US" sz="3200" b="1" dirty="0">
                <a:solidFill>
                  <a:schemeClr val="accent1"/>
                </a:solidFill>
              </a:rPr>
              <a:t>1</a:t>
            </a:r>
            <a:endParaRPr lang="en-US" sz="3200" dirty="0"/>
          </a:p>
        </p:txBody>
      </p:sp>
      <p:sp>
        <p:nvSpPr>
          <p:cNvPr id="27" name="Text 20"/>
          <p:cNvSpPr txBox="1"/>
          <p:nvPr/>
        </p:nvSpPr>
        <p:spPr>
          <a:xfrm>
            <a:off x="8458200" y="2441448"/>
            <a:ext cx="2971800" cy="320040"/>
          </a:xfrm>
          <a:prstGeom prst="rect">
            <a:avLst/>
          </a:prstGeom>
          <a:noFill/>
          <a:ln/>
        </p:spPr>
        <p:txBody>
          <a:bodyPr wrap="square" lIns="0" tIns="0" rIns="0" bIns="0" rtlCol="0" anchor="t"/>
          <a:lstStyle/>
          <a:p>
            <a:pPr indent="0" marL="0">
              <a:buNone/>
            </a:pPr>
            <a:r>
              <a:rPr lang="en-US" sz="1600" b="1" dirty="0">
                <a:solidFill>
                  <a:schemeClr val="bg1"/>
                </a:solidFill>
              </a:rPr>
              <a:t>Özel skiving tezgahları</a:t>
            </a:r>
            <a:endParaRPr lang="en-US" sz="1600" dirty="0"/>
          </a:p>
        </p:txBody>
      </p:sp>
      <p:sp>
        <p:nvSpPr>
          <p:cNvPr id="28" name="Text 21"/>
          <p:cNvSpPr txBox="1"/>
          <p:nvPr/>
        </p:nvSpPr>
        <p:spPr>
          <a:xfrm>
            <a:off x="8458200" y="2788920"/>
            <a:ext cx="2971800" cy="548640"/>
          </a:xfrm>
          <a:prstGeom prst="rect">
            <a:avLst/>
          </a:prstGeom>
          <a:noFill/>
          <a:ln/>
        </p:spPr>
        <p:txBody>
          <a:bodyPr wrap="square" lIns="0" tIns="0" rIns="0" bIns="0" rtlCol="0" anchor="t"/>
          <a:lstStyle/>
          <a:p>
            <a:pPr indent="0" marL="0">
              <a:buNone/>
            </a:pPr>
            <a:r>
              <a:rPr lang="en-US" sz="1400" dirty="0">
                <a:solidFill>
                  <a:schemeClr val="accent6"/>
                </a:solidFill>
              </a:rPr>
              <a:t>Seri üretim, en yüksek verim</a:t>
            </a:r>
            <a:endParaRPr lang="en-US" sz="1400" dirty="0"/>
          </a:p>
        </p:txBody>
      </p:sp>
      <p:sp>
        <p:nvSpPr>
          <p:cNvPr id="29" name="Text 22"/>
          <p:cNvSpPr txBox="1"/>
          <p:nvPr/>
        </p:nvSpPr>
        <p:spPr>
          <a:xfrm>
            <a:off x="7955280" y="3611880"/>
            <a:ext cx="457200" cy="548640"/>
          </a:xfrm>
          <a:prstGeom prst="rect">
            <a:avLst/>
          </a:prstGeom>
          <a:noFill/>
          <a:ln/>
        </p:spPr>
        <p:txBody>
          <a:bodyPr wrap="square" lIns="0" tIns="0" rIns="0" bIns="0" rtlCol="0" anchor="t"/>
          <a:lstStyle/>
          <a:p>
            <a:pPr indent="0" marL="0">
              <a:buNone/>
            </a:pPr>
            <a:r>
              <a:rPr lang="en-US" sz="3200" b="1" dirty="0">
                <a:solidFill>
                  <a:schemeClr val="accent1"/>
                </a:solidFill>
              </a:rPr>
              <a:t>2</a:t>
            </a:r>
            <a:endParaRPr lang="en-US" sz="3200" dirty="0"/>
          </a:p>
        </p:txBody>
      </p:sp>
      <p:sp>
        <p:nvSpPr>
          <p:cNvPr id="30" name="Text 23"/>
          <p:cNvSpPr txBox="1"/>
          <p:nvPr/>
        </p:nvSpPr>
        <p:spPr>
          <a:xfrm>
            <a:off x="8458200" y="3630168"/>
            <a:ext cx="2971800" cy="320040"/>
          </a:xfrm>
          <a:prstGeom prst="rect">
            <a:avLst/>
          </a:prstGeom>
          <a:noFill/>
          <a:ln/>
        </p:spPr>
        <p:txBody>
          <a:bodyPr wrap="square" lIns="0" tIns="0" rIns="0" bIns="0" rtlCol="0" anchor="t"/>
          <a:lstStyle/>
          <a:p>
            <a:pPr indent="0" marL="0">
              <a:buNone/>
            </a:pPr>
            <a:r>
              <a:rPr lang="en-US" sz="1600" b="1" dirty="0">
                <a:solidFill>
                  <a:schemeClr val="bg1"/>
                </a:solidFill>
              </a:rPr>
              <a:t>Torna-freze merkezleri</a:t>
            </a:r>
            <a:endParaRPr lang="en-US" sz="1600" dirty="0"/>
          </a:p>
        </p:txBody>
      </p:sp>
      <p:sp>
        <p:nvSpPr>
          <p:cNvPr id="31" name="Text 24"/>
          <p:cNvSpPr txBox="1"/>
          <p:nvPr/>
        </p:nvSpPr>
        <p:spPr>
          <a:xfrm>
            <a:off x="8458200" y="3977640"/>
            <a:ext cx="2971800" cy="548640"/>
          </a:xfrm>
          <a:prstGeom prst="rect">
            <a:avLst/>
          </a:prstGeom>
          <a:noFill/>
          <a:ln/>
        </p:spPr>
        <p:txBody>
          <a:bodyPr wrap="square" lIns="0" tIns="0" rIns="0" bIns="0" rtlCol="0" anchor="t"/>
          <a:lstStyle/>
          <a:p>
            <a:pPr indent="0" marL="0">
              <a:buNone/>
            </a:pPr>
            <a:r>
              <a:rPr lang="en-US" sz="1400" dirty="0">
                <a:solidFill>
                  <a:schemeClr val="accent6"/>
                </a:solidFill>
              </a:rPr>
              <a:t>Tek bağlamada komple parça</a:t>
            </a:r>
            <a:endParaRPr lang="en-US" sz="1400" dirty="0"/>
          </a:p>
        </p:txBody>
      </p:sp>
      <p:sp>
        <p:nvSpPr>
          <p:cNvPr id="32" name="Text 25"/>
          <p:cNvSpPr txBox="1"/>
          <p:nvPr/>
        </p:nvSpPr>
        <p:spPr>
          <a:xfrm>
            <a:off x="7955280" y="4800600"/>
            <a:ext cx="457200" cy="548640"/>
          </a:xfrm>
          <a:prstGeom prst="rect">
            <a:avLst/>
          </a:prstGeom>
          <a:noFill/>
          <a:ln/>
        </p:spPr>
        <p:txBody>
          <a:bodyPr wrap="square" lIns="0" tIns="0" rIns="0" bIns="0" rtlCol="0" anchor="t"/>
          <a:lstStyle/>
          <a:p>
            <a:pPr indent="0" marL="0">
              <a:buNone/>
            </a:pPr>
            <a:r>
              <a:rPr lang="en-US" sz="3200" b="1" dirty="0">
                <a:solidFill>
                  <a:schemeClr val="accent1"/>
                </a:solidFill>
              </a:rPr>
              <a:t>3</a:t>
            </a:r>
            <a:endParaRPr lang="en-US" sz="3200" dirty="0"/>
          </a:p>
        </p:txBody>
      </p:sp>
      <p:sp>
        <p:nvSpPr>
          <p:cNvPr id="33" name="Text 26"/>
          <p:cNvSpPr txBox="1"/>
          <p:nvPr/>
        </p:nvSpPr>
        <p:spPr>
          <a:xfrm>
            <a:off x="8458200" y="4818888"/>
            <a:ext cx="2971800" cy="320040"/>
          </a:xfrm>
          <a:prstGeom prst="rect">
            <a:avLst/>
          </a:prstGeom>
          <a:noFill/>
          <a:ln/>
        </p:spPr>
        <p:txBody>
          <a:bodyPr wrap="square" lIns="0" tIns="0" rIns="0" bIns="0" rtlCol="0" anchor="t"/>
          <a:lstStyle/>
          <a:p>
            <a:pPr indent="0" marL="0">
              <a:buNone/>
            </a:pPr>
            <a:r>
              <a:rPr lang="en-US" sz="1600" b="1" dirty="0">
                <a:solidFill>
                  <a:schemeClr val="bg1"/>
                </a:solidFill>
              </a:rPr>
              <a:t>5 eksen işleme merkezleri</a:t>
            </a:r>
            <a:endParaRPr lang="en-US" sz="1600" dirty="0"/>
          </a:p>
        </p:txBody>
      </p:sp>
      <p:sp>
        <p:nvSpPr>
          <p:cNvPr id="34" name="Text 27"/>
          <p:cNvSpPr txBox="1"/>
          <p:nvPr/>
        </p:nvSpPr>
        <p:spPr>
          <a:xfrm>
            <a:off x="8458200" y="5166360"/>
            <a:ext cx="2971800" cy="548640"/>
          </a:xfrm>
          <a:prstGeom prst="rect">
            <a:avLst/>
          </a:prstGeom>
          <a:noFill/>
          <a:ln/>
        </p:spPr>
        <p:txBody>
          <a:bodyPr wrap="square" lIns="0" tIns="0" rIns="0" bIns="0" rtlCol="0" anchor="t"/>
          <a:lstStyle/>
          <a:p>
            <a:pPr indent="0" marL="0">
              <a:buNone/>
            </a:pPr>
            <a:r>
              <a:rPr lang="en-US" sz="1400" dirty="0">
                <a:solidFill>
                  <a:schemeClr val="accent6"/>
                </a:solidFill>
              </a:rPr>
              <a:t>Uygun rijitlik ve senkron döner eksenle</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05 · SÜREÇ</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Çizimden ölçüme beş adım</a:t>
            </a:r>
            <a:endParaRPr lang="en-US" sz="3600" dirty="0"/>
          </a:p>
        </p:txBody>
      </p:sp>
      <p:sp>
        <p:nvSpPr>
          <p:cNvPr id="4" name="flow-line"/>
          <p:cNvSpPr/>
          <p:nvPr/>
        </p:nvSpPr>
        <p:spPr>
          <a:xfrm>
            <a:off x="1577340" y="2240280"/>
            <a:ext cx="9034272" cy="0"/>
          </a:xfrm>
          <a:prstGeom prst="line">
            <a:avLst/>
          </a:prstGeom>
          <a:noFill/>
          <a:ln w="31750">
            <a:solidFill>
              <a:schemeClr val="accent1"/>
            </a:solidFill>
            <a:prstDash val="dash"/>
          </a:ln>
        </p:spPr>
      </p:sp>
      <p:sp>
        <p:nvSpPr>
          <p:cNvPr id="5" name="step-dot 1"/>
          <p:cNvSpPr/>
          <p:nvPr/>
        </p:nvSpPr>
        <p:spPr>
          <a:xfrm>
            <a:off x="1165860" y="1828800"/>
            <a:ext cx="822960" cy="822960"/>
          </a:xfrm>
          <a:prstGeom prst="ellipse">
            <a:avLst/>
          </a:prstGeom>
          <a:solidFill>
            <a:schemeClr val="accent1"/>
          </a:solidFill>
          <a:ln w="25400">
            <a:solidFill>
              <a:schemeClr val="accent2"/>
            </a:solidFill>
            <a:prstDash val="solid"/>
          </a:ln>
          <a:effectLst>
            <a:outerShdw sx="100000" sy="100000" kx="0" ky="0" algn="bl" rotWithShape="0" blurRad="177800" dist="50800" dir="5400000">
              <a:srgbClr val="000000">
                <a:alpha val="50000"/>
              </a:srgbClr>
            </a:outerShdw>
          </a:effectLst>
        </p:spPr>
      </p:sp>
      <p:sp>
        <p:nvSpPr>
          <p:cNvPr id="6" name="Text 4"/>
          <p:cNvSpPr txBox="1"/>
          <p:nvPr/>
        </p:nvSpPr>
        <p:spPr>
          <a:xfrm>
            <a:off x="1165860" y="1828800"/>
            <a:ext cx="822960" cy="822960"/>
          </a:xfrm>
          <a:prstGeom prst="rect">
            <a:avLst/>
          </a:prstGeom>
          <a:noFill/>
          <a:ln/>
        </p:spPr>
        <p:txBody>
          <a:bodyPr wrap="square" lIns="0" tIns="0" rIns="0" bIns="0" rtlCol="0" anchor="ctr"/>
          <a:lstStyle/>
          <a:p>
            <a:pPr algn="ctr" indent="0" marL="0">
              <a:buNone/>
            </a:pPr>
            <a:r>
              <a:rPr lang="en-US" sz="3000" b="1" dirty="0">
                <a:solidFill>
                  <a:schemeClr val="tx1"/>
                </a:solidFill>
              </a:rPr>
              <a:t>1</a:t>
            </a:r>
            <a:endParaRPr lang="en-US" sz="3000" dirty="0"/>
          </a:p>
        </p:txBody>
      </p:sp>
      <p:sp>
        <p:nvSpPr>
          <p:cNvPr id="7" name="step-card 1"/>
          <p:cNvSpPr/>
          <p:nvPr/>
        </p:nvSpPr>
        <p:spPr>
          <a:xfrm>
            <a:off x="548640" y="3017520"/>
            <a:ext cx="2057400" cy="2377440"/>
          </a:xfrm>
          <a:prstGeom prst="roundRect">
            <a:avLst>
              <a:gd name="adj" fmla="val 5333"/>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8" name="Text 6"/>
          <p:cNvSpPr txBox="1"/>
          <p:nvPr/>
        </p:nvSpPr>
        <p:spPr>
          <a:xfrm>
            <a:off x="749808" y="3246120"/>
            <a:ext cx="1655064" cy="685800"/>
          </a:xfrm>
          <a:prstGeom prst="rect">
            <a:avLst/>
          </a:prstGeom>
          <a:noFill/>
          <a:ln/>
        </p:spPr>
        <p:txBody>
          <a:bodyPr wrap="square" lIns="0" tIns="0" rIns="0" bIns="0" rtlCol="0" anchor="t"/>
          <a:lstStyle/>
          <a:p>
            <a:pPr indent="0" marL="0">
              <a:buNone/>
            </a:pPr>
            <a:r>
              <a:rPr lang="en-US" sz="1800" b="1" dirty="0">
                <a:solidFill>
                  <a:schemeClr val="bg1"/>
                </a:solidFill>
              </a:rPr>
              <a:t>Dişli verisi</a:t>
            </a:r>
            <a:endParaRPr lang="en-US" sz="1800" dirty="0"/>
          </a:p>
        </p:txBody>
      </p:sp>
      <p:sp>
        <p:nvSpPr>
          <p:cNvPr id="9" name="Text 7"/>
          <p:cNvSpPr txBox="1"/>
          <p:nvPr/>
        </p:nvSpPr>
        <p:spPr>
          <a:xfrm>
            <a:off x="749808" y="3977640"/>
            <a:ext cx="1655064" cy="1280160"/>
          </a:xfrm>
          <a:prstGeom prst="rect">
            <a:avLst/>
          </a:prstGeom>
          <a:noFill/>
          <a:ln/>
        </p:spPr>
        <p:txBody>
          <a:bodyPr wrap="square" lIns="0" tIns="0" rIns="0" bIns="0" rtlCol="0" anchor="t"/>
          <a:lstStyle/>
          <a:p>
            <a:pPr indent="0" marL="0">
              <a:buNone/>
            </a:pPr>
            <a:r>
              <a:rPr lang="en-US" sz="1400" dirty="0">
                <a:solidFill>
                  <a:schemeClr val="accent6"/>
                </a:solidFill>
              </a:rPr>
              <a:t>Modül, diş sayısı, helis açısı, profil kaydırma, tolerans</a:t>
            </a:r>
            <a:endParaRPr lang="en-US" sz="1400" dirty="0"/>
          </a:p>
        </p:txBody>
      </p:sp>
      <p:sp>
        <p:nvSpPr>
          <p:cNvPr id="10" name="step-dot 2"/>
          <p:cNvSpPr/>
          <p:nvPr/>
        </p:nvSpPr>
        <p:spPr>
          <a:xfrm>
            <a:off x="3424428" y="1828800"/>
            <a:ext cx="822960" cy="822960"/>
          </a:xfrm>
          <a:prstGeom prst="ellipse">
            <a:avLst/>
          </a:prstGeom>
          <a:solidFill>
            <a:schemeClr val="accent1"/>
          </a:solidFill>
          <a:ln w="25400">
            <a:solidFill>
              <a:schemeClr val="accent2"/>
            </a:solidFill>
            <a:prstDash val="solid"/>
          </a:ln>
          <a:effectLst>
            <a:outerShdw sx="100000" sy="100000" kx="0" ky="0" algn="bl" rotWithShape="0" blurRad="177800" dist="50800" dir="5400000">
              <a:srgbClr val="000000">
                <a:alpha val="50000"/>
              </a:srgbClr>
            </a:outerShdw>
          </a:effectLst>
        </p:spPr>
      </p:sp>
      <p:sp>
        <p:nvSpPr>
          <p:cNvPr id="11" name="Text 9"/>
          <p:cNvSpPr txBox="1"/>
          <p:nvPr/>
        </p:nvSpPr>
        <p:spPr>
          <a:xfrm>
            <a:off x="3424428" y="1828800"/>
            <a:ext cx="822960" cy="822960"/>
          </a:xfrm>
          <a:prstGeom prst="rect">
            <a:avLst/>
          </a:prstGeom>
          <a:noFill/>
          <a:ln/>
        </p:spPr>
        <p:txBody>
          <a:bodyPr wrap="square" lIns="0" tIns="0" rIns="0" bIns="0" rtlCol="0" anchor="ctr"/>
          <a:lstStyle/>
          <a:p>
            <a:pPr algn="ctr" indent="0" marL="0">
              <a:buNone/>
            </a:pPr>
            <a:r>
              <a:rPr lang="en-US" sz="3000" b="1" dirty="0">
                <a:solidFill>
                  <a:schemeClr val="tx1"/>
                </a:solidFill>
              </a:rPr>
              <a:t>2</a:t>
            </a:r>
            <a:endParaRPr lang="en-US" sz="3000" dirty="0"/>
          </a:p>
        </p:txBody>
      </p:sp>
      <p:sp>
        <p:nvSpPr>
          <p:cNvPr id="12" name="step-card 2"/>
          <p:cNvSpPr/>
          <p:nvPr/>
        </p:nvSpPr>
        <p:spPr>
          <a:xfrm>
            <a:off x="2807208" y="3017520"/>
            <a:ext cx="2057400" cy="2377440"/>
          </a:xfrm>
          <a:prstGeom prst="roundRect">
            <a:avLst>
              <a:gd name="adj" fmla="val 5333"/>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3" name="Text 11"/>
          <p:cNvSpPr txBox="1"/>
          <p:nvPr/>
        </p:nvSpPr>
        <p:spPr>
          <a:xfrm>
            <a:off x="3008376" y="3246120"/>
            <a:ext cx="1655064" cy="685800"/>
          </a:xfrm>
          <a:prstGeom prst="rect">
            <a:avLst/>
          </a:prstGeom>
          <a:noFill/>
          <a:ln/>
        </p:spPr>
        <p:txBody>
          <a:bodyPr wrap="square" lIns="0" tIns="0" rIns="0" bIns="0" rtlCol="0" anchor="t"/>
          <a:lstStyle/>
          <a:p>
            <a:pPr indent="0" marL="0">
              <a:buNone/>
            </a:pPr>
            <a:r>
              <a:rPr lang="en-US" sz="1800" b="1" dirty="0">
                <a:solidFill>
                  <a:schemeClr val="bg1"/>
                </a:solidFill>
              </a:rPr>
              <a:t>Takım tasarımı</a:t>
            </a:r>
            <a:endParaRPr lang="en-US" sz="1800" dirty="0"/>
          </a:p>
        </p:txBody>
      </p:sp>
      <p:sp>
        <p:nvSpPr>
          <p:cNvPr id="14" name="Text 12"/>
          <p:cNvSpPr txBox="1"/>
          <p:nvPr/>
        </p:nvSpPr>
        <p:spPr>
          <a:xfrm>
            <a:off x="3008376" y="3977640"/>
            <a:ext cx="1655064" cy="1280160"/>
          </a:xfrm>
          <a:prstGeom prst="rect">
            <a:avLst/>
          </a:prstGeom>
          <a:noFill/>
          <a:ln/>
        </p:spPr>
        <p:txBody>
          <a:bodyPr wrap="square" lIns="0" tIns="0" rIns="0" bIns="0" rtlCol="0" anchor="t"/>
          <a:lstStyle/>
          <a:p>
            <a:pPr indent="0" marL="0">
              <a:buNone/>
            </a:pPr>
            <a:r>
              <a:rPr lang="en-US" sz="1400" dirty="0">
                <a:solidFill>
                  <a:schemeClr val="accent6"/>
                </a:solidFill>
              </a:rPr>
              <a:t>Takım diş sayısı, Σ açısı, profil ve talaş geometrisi</a:t>
            </a:r>
            <a:endParaRPr lang="en-US" sz="1400" dirty="0"/>
          </a:p>
        </p:txBody>
      </p:sp>
      <p:sp>
        <p:nvSpPr>
          <p:cNvPr id="15" name="step-dot 3"/>
          <p:cNvSpPr/>
          <p:nvPr/>
        </p:nvSpPr>
        <p:spPr>
          <a:xfrm>
            <a:off x="5682996" y="1828800"/>
            <a:ext cx="822960" cy="822960"/>
          </a:xfrm>
          <a:prstGeom prst="ellipse">
            <a:avLst/>
          </a:prstGeom>
          <a:solidFill>
            <a:schemeClr val="accent1"/>
          </a:solidFill>
          <a:ln w="25400">
            <a:solidFill>
              <a:schemeClr val="accent2"/>
            </a:solidFill>
            <a:prstDash val="solid"/>
          </a:ln>
          <a:effectLst>
            <a:outerShdw sx="100000" sy="100000" kx="0" ky="0" algn="bl" rotWithShape="0" blurRad="177800" dist="50800" dir="5400000">
              <a:srgbClr val="000000">
                <a:alpha val="50000"/>
              </a:srgbClr>
            </a:outerShdw>
          </a:effectLst>
        </p:spPr>
      </p:sp>
      <p:sp>
        <p:nvSpPr>
          <p:cNvPr id="16" name="Text 14"/>
          <p:cNvSpPr txBox="1"/>
          <p:nvPr/>
        </p:nvSpPr>
        <p:spPr>
          <a:xfrm>
            <a:off x="5682996" y="1828800"/>
            <a:ext cx="822960" cy="822960"/>
          </a:xfrm>
          <a:prstGeom prst="rect">
            <a:avLst/>
          </a:prstGeom>
          <a:noFill/>
          <a:ln/>
        </p:spPr>
        <p:txBody>
          <a:bodyPr wrap="square" lIns="0" tIns="0" rIns="0" bIns="0" rtlCol="0" anchor="ctr"/>
          <a:lstStyle/>
          <a:p>
            <a:pPr algn="ctr" indent="0" marL="0">
              <a:buNone/>
            </a:pPr>
            <a:r>
              <a:rPr lang="en-US" sz="3000" b="1" dirty="0">
                <a:solidFill>
                  <a:schemeClr val="tx1"/>
                </a:solidFill>
              </a:rPr>
              <a:t>3</a:t>
            </a:r>
            <a:endParaRPr lang="en-US" sz="3000" dirty="0"/>
          </a:p>
        </p:txBody>
      </p:sp>
      <p:sp>
        <p:nvSpPr>
          <p:cNvPr id="17" name="step-card 3"/>
          <p:cNvSpPr/>
          <p:nvPr/>
        </p:nvSpPr>
        <p:spPr>
          <a:xfrm>
            <a:off x="5065776" y="3017520"/>
            <a:ext cx="2057400" cy="2377440"/>
          </a:xfrm>
          <a:prstGeom prst="roundRect">
            <a:avLst>
              <a:gd name="adj" fmla="val 5333"/>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8" name="Text 16"/>
          <p:cNvSpPr txBox="1"/>
          <p:nvPr/>
        </p:nvSpPr>
        <p:spPr>
          <a:xfrm>
            <a:off x="5266944" y="3246120"/>
            <a:ext cx="1655064" cy="685800"/>
          </a:xfrm>
          <a:prstGeom prst="rect">
            <a:avLst/>
          </a:prstGeom>
          <a:noFill/>
          <a:ln/>
        </p:spPr>
        <p:txBody>
          <a:bodyPr wrap="square" lIns="0" tIns="0" rIns="0" bIns="0" rtlCol="0" anchor="t"/>
          <a:lstStyle/>
          <a:p>
            <a:pPr indent="0" marL="0">
              <a:buNone/>
            </a:pPr>
            <a:r>
              <a:rPr lang="en-US" sz="1800" b="1" dirty="0">
                <a:solidFill>
                  <a:schemeClr val="bg1"/>
                </a:solidFill>
              </a:rPr>
              <a:t>Simülasyon</a:t>
            </a:r>
            <a:endParaRPr lang="en-US" sz="1800" dirty="0"/>
          </a:p>
        </p:txBody>
      </p:sp>
      <p:sp>
        <p:nvSpPr>
          <p:cNvPr id="19" name="Text 17"/>
          <p:cNvSpPr txBox="1"/>
          <p:nvPr/>
        </p:nvSpPr>
        <p:spPr>
          <a:xfrm>
            <a:off x="5266944" y="3977640"/>
            <a:ext cx="1655064" cy="1280160"/>
          </a:xfrm>
          <a:prstGeom prst="rect">
            <a:avLst/>
          </a:prstGeom>
          <a:noFill/>
          <a:ln/>
        </p:spPr>
        <p:txBody>
          <a:bodyPr wrap="square" lIns="0" tIns="0" rIns="0" bIns="0" rtlCol="0" anchor="t"/>
          <a:lstStyle/>
          <a:p>
            <a:pPr indent="0" marL="0">
              <a:buNone/>
            </a:pPr>
            <a:r>
              <a:rPr lang="en-US" sz="1400" dirty="0">
                <a:solidFill>
                  <a:schemeClr val="accent6"/>
                </a:solidFill>
              </a:rPr>
              <a:t>Talaş kesiti, çarpışma ve takım yükü analizi</a:t>
            </a:r>
            <a:endParaRPr lang="en-US" sz="1400" dirty="0"/>
          </a:p>
        </p:txBody>
      </p:sp>
      <p:sp>
        <p:nvSpPr>
          <p:cNvPr id="20" name="step-dot 4"/>
          <p:cNvSpPr/>
          <p:nvPr/>
        </p:nvSpPr>
        <p:spPr>
          <a:xfrm>
            <a:off x="7941564" y="1828800"/>
            <a:ext cx="822960" cy="822960"/>
          </a:xfrm>
          <a:prstGeom prst="ellipse">
            <a:avLst/>
          </a:prstGeom>
          <a:solidFill>
            <a:schemeClr val="accent1"/>
          </a:solidFill>
          <a:ln w="25400">
            <a:solidFill>
              <a:schemeClr val="accent2"/>
            </a:solidFill>
            <a:prstDash val="solid"/>
          </a:ln>
          <a:effectLst>
            <a:outerShdw sx="100000" sy="100000" kx="0" ky="0" algn="bl" rotWithShape="0" blurRad="177800" dist="50800" dir="5400000">
              <a:srgbClr val="000000">
                <a:alpha val="50000"/>
              </a:srgbClr>
            </a:outerShdw>
          </a:effectLst>
        </p:spPr>
      </p:sp>
      <p:sp>
        <p:nvSpPr>
          <p:cNvPr id="21" name="Text 19"/>
          <p:cNvSpPr txBox="1"/>
          <p:nvPr/>
        </p:nvSpPr>
        <p:spPr>
          <a:xfrm>
            <a:off x="7941564" y="1828800"/>
            <a:ext cx="822960" cy="822960"/>
          </a:xfrm>
          <a:prstGeom prst="rect">
            <a:avLst/>
          </a:prstGeom>
          <a:noFill/>
          <a:ln/>
        </p:spPr>
        <p:txBody>
          <a:bodyPr wrap="square" lIns="0" tIns="0" rIns="0" bIns="0" rtlCol="0" anchor="ctr"/>
          <a:lstStyle/>
          <a:p>
            <a:pPr algn="ctr" indent="0" marL="0">
              <a:buNone/>
            </a:pPr>
            <a:r>
              <a:rPr lang="en-US" sz="3000" b="1" dirty="0">
                <a:solidFill>
                  <a:schemeClr val="tx1"/>
                </a:solidFill>
              </a:rPr>
              <a:t>4</a:t>
            </a:r>
            <a:endParaRPr lang="en-US" sz="3000" dirty="0"/>
          </a:p>
        </p:txBody>
      </p:sp>
      <p:sp>
        <p:nvSpPr>
          <p:cNvPr id="22" name="step-card 4"/>
          <p:cNvSpPr/>
          <p:nvPr/>
        </p:nvSpPr>
        <p:spPr>
          <a:xfrm>
            <a:off x="7324344" y="3017520"/>
            <a:ext cx="2057400" cy="2377440"/>
          </a:xfrm>
          <a:prstGeom prst="roundRect">
            <a:avLst>
              <a:gd name="adj" fmla="val 5333"/>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3" name="Text 21"/>
          <p:cNvSpPr txBox="1"/>
          <p:nvPr/>
        </p:nvSpPr>
        <p:spPr>
          <a:xfrm>
            <a:off x="7525512" y="3246120"/>
            <a:ext cx="1655064" cy="685800"/>
          </a:xfrm>
          <a:prstGeom prst="rect">
            <a:avLst/>
          </a:prstGeom>
          <a:noFill/>
          <a:ln/>
        </p:spPr>
        <p:txBody>
          <a:bodyPr wrap="square" lIns="0" tIns="0" rIns="0" bIns="0" rtlCol="0" anchor="t"/>
          <a:lstStyle/>
          <a:p>
            <a:pPr indent="0" marL="0">
              <a:buNone/>
            </a:pPr>
            <a:r>
              <a:rPr lang="en-US" sz="1800" b="1" dirty="0">
                <a:solidFill>
                  <a:schemeClr val="bg1"/>
                </a:solidFill>
              </a:rPr>
              <a:t>Kesim stratejisi</a:t>
            </a:r>
            <a:endParaRPr lang="en-US" sz="1800" dirty="0"/>
          </a:p>
        </p:txBody>
      </p:sp>
      <p:sp>
        <p:nvSpPr>
          <p:cNvPr id="24" name="Text 22"/>
          <p:cNvSpPr txBox="1"/>
          <p:nvPr/>
        </p:nvSpPr>
        <p:spPr>
          <a:xfrm>
            <a:off x="7525512" y="3977640"/>
            <a:ext cx="1655064" cy="1280160"/>
          </a:xfrm>
          <a:prstGeom prst="rect">
            <a:avLst/>
          </a:prstGeom>
          <a:noFill/>
          <a:ln/>
        </p:spPr>
        <p:txBody>
          <a:bodyPr wrap="square" lIns="0" tIns="0" rIns="0" bIns="0" rtlCol="0" anchor="t"/>
          <a:lstStyle/>
          <a:p>
            <a:pPr indent="0" marL="0">
              <a:buNone/>
            </a:pPr>
            <a:r>
              <a:rPr lang="en-US" sz="1400" dirty="0">
                <a:solidFill>
                  <a:schemeClr val="accent6"/>
                </a:solidFill>
              </a:rPr>
              <a:t>Çok pasolu radyal kademeleme, ilerleme ve kesim yönü</a:t>
            </a:r>
            <a:endParaRPr lang="en-US" sz="1400" dirty="0"/>
          </a:p>
        </p:txBody>
      </p:sp>
      <p:sp>
        <p:nvSpPr>
          <p:cNvPr id="25" name="step-dot 5"/>
          <p:cNvSpPr/>
          <p:nvPr/>
        </p:nvSpPr>
        <p:spPr>
          <a:xfrm>
            <a:off x="10200132" y="1828800"/>
            <a:ext cx="822960" cy="822960"/>
          </a:xfrm>
          <a:prstGeom prst="ellipse">
            <a:avLst/>
          </a:prstGeom>
          <a:solidFill>
            <a:schemeClr val="accent1"/>
          </a:solidFill>
          <a:ln w="25400">
            <a:solidFill>
              <a:schemeClr val="accent2"/>
            </a:solidFill>
            <a:prstDash val="solid"/>
          </a:ln>
          <a:effectLst>
            <a:outerShdw sx="100000" sy="100000" kx="0" ky="0" algn="bl" rotWithShape="0" blurRad="177800" dist="50800" dir="5400000">
              <a:srgbClr val="000000">
                <a:alpha val="50000"/>
              </a:srgbClr>
            </a:outerShdw>
          </a:effectLst>
        </p:spPr>
      </p:sp>
      <p:sp>
        <p:nvSpPr>
          <p:cNvPr id="26" name="Text 24"/>
          <p:cNvSpPr txBox="1"/>
          <p:nvPr/>
        </p:nvSpPr>
        <p:spPr>
          <a:xfrm>
            <a:off x="10200132" y="1828800"/>
            <a:ext cx="822960" cy="822960"/>
          </a:xfrm>
          <a:prstGeom prst="rect">
            <a:avLst/>
          </a:prstGeom>
          <a:noFill/>
          <a:ln/>
        </p:spPr>
        <p:txBody>
          <a:bodyPr wrap="square" lIns="0" tIns="0" rIns="0" bIns="0" rtlCol="0" anchor="ctr"/>
          <a:lstStyle/>
          <a:p>
            <a:pPr algn="ctr" indent="0" marL="0">
              <a:buNone/>
            </a:pPr>
            <a:r>
              <a:rPr lang="en-US" sz="3000" b="1" dirty="0">
                <a:solidFill>
                  <a:schemeClr val="tx1"/>
                </a:solidFill>
              </a:rPr>
              <a:t>5</a:t>
            </a:r>
            <a:endParaRPr lang="en-US" sz="3000" dirty="0"/>
          </a:p>
        </p:txBody>
      </p:sp>
      <p:sp>
        <p:nvSpPr>
          <p:cNvPr id="27" name="step-card 5"/>
          <p:cNvSpPr/>
          <p:nvPr/>
        </p:nvSpPr>
        <p:spPr>
          <a:xfrm>
            <a:off x="9582912" y="3017520"/>
            <a:ext cx="2057400" cy="2377440"/>
          </a:xfrm>
          <a:prstGeom prst="roundRect">
            <a:avLst>
              <a:gd name="adj" fmla="val 5333"/>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8" name="Text 26"/>
          <p:cNvSpPr txBox="1"/>
          <p:nvPr/>
        </p:nvSpPr>
        <p:spPr>
          <a:xfrm>
            <a:off x="9784080" y="3246120"/>
            <a:ext cx="1655064" cy="685800"/>
          </a:xfrm>
          <a:prstGeom prst="rect">
            <a:avLst/>
          </a:prstGeom>
          <a:noFill/>
          <a:ln/>
        </p:spPr>
        <p:txBody>
          <a:bodyPr wrap="square" lIns="0" tIns="0" rIns="0" bIns="0" rtlCol="0" anchor="t"/>
          <a:lstStyle/>
          <a:p>
            <a:pPr indent="0" marL="0">
              <a:buNone/>
            </a:pPr>
            <a:r>
              <a:rPr lang="en-US" sz="1800" b="1" dirty="0">
                <a:solidFill>
                  <a:schemeClr val="bg1"/>
                </a:solidFill>
              </a:rPr>
              <a:t>Ölçüm ve düzeltme</a:t>
            </a:r>
            <a:endParaRPr lang="en-US" sz="1800" dirty="0"/>
          </a:p>
        </p:txBody>
      </p:sp>
      <p:sp>
        <p:nvSpPr>
          <p:cNvPr id="29" name="Text 27"/>
          <p:cNvSpPr txBox="1"/>
          <p:nvPr/>
        </p:nvSpPr>
        <p:spPr>
          <a:xfrm>
            <a:off x="9784080" y="3977640"/>
            <a:ext cx="1655064" cy="1280160"/>
          </a:xfrm>
          <a:prstGeom prst="rect">
            <a:avLst/>
          </a:prstGeom>
          <a:noFill/>
          <a:ln/>
        </p:spPr>
        <p:txBody>
          <a:bodyPr wrap="square" lIns="0" tIns="0" rIns="0" bIns="0" rtlCol="0" anchor="t"/>
          <a:lstStyle/>
          <a:p>
            <a:pPr indent="0" marL="0">
              <a:buNone/>
            </a:pPr>
            <a:r>
              <a:rPr lang="en-US" sz="1400" dirty="0">
                <a:solidFill>
                  <a:schemeClr val="accent6"/>
                </a:solidFill>
              </a:rPr>
              <a:t>Profil ve helis ölçümü, gerekirse düzeltme</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06 · UYGULAMALAR</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Nerede fark yaratır?</a:t>
            </a:r>
            <a:endParaRPr lang="en-US" sz="3600" dirty="0"/>
          </a:p>
        </p:txBody>
      </p:sp>
      <p:sp>
        <p:nvSpPr>
          <p:cNvPr id="4" name="app-card E-mobilite"/>
          <p:cNvSpPr/>
          <p:nvPr/>
        </p:nvSpPr>
        <p:spPr>
          <a:xfrm>
            <a:off x="548640" y="1783080"/>
            <a:ext cx="3520440" cy="1965960"/>
          </a:xfrm>
          <a:prstGeom prst="roundRect">
            <a:avLst>
              <a:gd name="adj" fmla="val 5581"/>
            </a:avLst>
          </a:prstGeom>
          <a:solidFill>
            <a:schemeClr val="accent5"/>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5" name="icon-circle FaBolt"/>
          <p:cNvSpPr/>
          <p:nvPr/>
        </p:nvSpPr>
        <p:spPr>
          <a:xfrm>
            <a:off x="868680" y="2103120"/>
            <a:ext cx="658368" cy="658368"/>
          </a:xfrm>
          <a:prstGeom prst="ellipse">
            <a:avLst/>
          </a:prstGeom>
          <a:solidFill>
            <a:schemeClr val="accent1"/>
          </a:solidFill>
          <a:ln w="12700">
            <a:solidFill>
              <a:schemeClr val="accent1"/>
            </a:solidFill>
            <a:prstDash val="solid"/>
          </a:ln>
        </p:spPr>
      </p:sp>
      <p:pic>
        <p:nvPicPr>
          <p:cNvPr id="6" name="icon FaBolt" descr="/home/claude/deck/assets/FaBolt-dark.png">    </p:cNvPr>
          <p:cNvPicPr>
            <a:picLocks noChangeAspect="1"/>
          </p:cNvPicPr>
          <p:nvPr/>
        </p:nvPicPr>
        <p:blipFill>
          <a:blip r:embed="rId1"/>
          <a:stretch>
            <a:fillRect/>
          </a:stretch>
        </p:blipFill>
        <p:spPr>
          <a:xfrm>
            <a:off x="1033272" y="2267712"/>
            <a:ext cx="329184" cy="329184"/>
          </a:xfrm>
          <a:prstGeom prst="rect">
            <a:avLst/>
          </a:prstGeom>
        </p:spPr>
      </p:pic>
      <p:sp>
        <p:nvSpPr>
          <p:cNvPr id="7" name="Text 4"/>
          <p:cNvSpPr txBox="1"/>
          <p:nvPr/>
        </p:nvSpPr>
        <p:spPr>
          <a:xfrm>
            <a:off x="868680" y="2880360"/>
            <a:ext cx="2971800" cy="365760"/>
          </a:xfrm>
          <a:prstGeom prst="rect">
            <a:avLst/>
          </a:prstGeom>
          <a:noFill/>
          <a:ln/>
        </p:spPr>
        <p:txBody>
          <a:bodyPr wrap="square" lIns="0" tIns="0" rIns="0" bIns="0" rtlCol="0" anchor="t"/>
          <a:lstStyle/>
          <a:p>
            <a:pPr indent="0" marL="0">
              <a:buNone/>
            </a:pPr>
            <a:r>
              <a:rPr lang="en-US" sz="1900" b="1" dirty="0">
                <a:solidFill>
                  <a:schemeClr val="accent2"/>
                </a:solidFill>
              </a:rPr>
              <a:t>E-mobilite</a:t>
            </a:r>
            <a:endParaRPr lang="en-US" sz="1900" dirty="0"/>
          </a:p>
        </p:txBody>
      </p:sp>
      <p:sp>
        <p:nvSpPr>
          <p:cNvPr id="8" name="Text 5"/>
          <p:cNvSpPr txBox="1"/>
          <p:nvPr/>
        </p:nvSpPr>
        <p:spPr>
          <a:xfrm>
            <a:off x="868680" y="3246120"/>
            <a:ext cx="2971800" cy="411480"/>
          </a:xfrm>
          <a:prstGeom prst="rect">
            <a:avLst/>
          </a:prstGeom>
          <a:noFill/>
          <a:ln/>
        </p:spPr>
        <p:txBody>
          <a:bodyPr wrap="square" lIns="0" tIns="0" rIns="0" bIns="0" rtlCol="0" anchor="t"/>
          <a:lstStyle/>
          <a:p>
            <a:pPr indent="0" marL="0">
              <a:buNone/>
            </a:pPr>
            <a:r>
              <a:rPr lang="en-US" sz="1400" dirty="0">
                <a:solidFill>
                  <a:schemeClr val="accent6"/>
                </a:solidFill>
              </a:rPr>
              <a:t>Planet dişli sistemlerinin halka dişlileri</a:t>
            </a:r>
            <a:endParaRPr lang="en-US" sz="1400" dirty="0"/>
          </a:p>
        </p:txBody>
      </p:sp>
      <p:sp>
        <p:nvSpPr>
          <p:cNvPr id="9" name="app-card Otomotiv şanzıman"/>
          <p:cNvSpPr/>
          <p:nvPr/>
        </p:nvSpPr>
        <p:spPr>
          <a:xfrm>
            <a:off x="4334256" y="1783080"/>
            <a:ext cx="3520440" cy="1965960"/>
          </a:xfrm>
          <a:prstGeom prst="roundRect">
            <a:avLst>
              <a:gd name="adj" fmla="val 5581"/>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0" name="icon-ring FaCarSide"/>
          <p:cNvSpPr/>
          <p:nvPr/>
        </p:nvSpPr>
        <p:spPr>
          <a:xfrm>
            <a:off x="4654296" y="2103120"/>
            <a:ext cx="658368" cy="658368"/>
          </a:xfrm>
          <a:prstGeom prst="ellipse">
            <a:avLst/>
          </a:prstGeom>
          <a:solidFill>
            <a:schemeClr val="tx2"/>
          </a:solidFill>
          <a:ln w="19050">
            <a:solidFill>
              <a:schemeClr val="accent1"/>
            </a:solidFill>
            <a:prstDash val="solid"/>
          </a:ln>
        </p:spPr>
      </p:sp>
      <p:pic>
        <p:nvPicPr>
          <p:cNvPr id="11" name="icon FaCarSide" descr="/home/claude/deck/assets/FaCarSide-orange.png">    </p:cNvPr>
          <p:cNvPicPr>
            <a:picLocks noChangeAspect="1"/>
          </p:cNvPicPr>
          <p:nvPr/>
        </p:nvPicPr>
        <p:blipFill>
          <a:blip r:embed="rId2"/>
          <a:stretch>
            <a:fillRect/>
          </a:stretch>
        </p:blipFill>
        <p:spPr>
          <a:xfrm>
            <a:off x="4818888" y="2267712"/>
            <a:ext cx="329184" cy="329184"/>
          </a:xfrm>
          <a:prstGeom prst="rect">
            <a:avLst/>
          </a:prstGeom>
        </p:spPr>
      </p:pic>
      <p:sp>
        <p:nvSpPr>
          <p:cNvPr id="12" name="Text 8"/>
          <p:cNvSpPr txBox="1"/>
          <p:nvPr/>
        </p:nvSpPr>
        <p:spPr>
          <a:xfrm>
            <a:off x="4654296" y="2880360"/>
            <a:ext cx="2971800" cy="365760"/>
          </a:xfrm>
          <a:prstGeom prst="rect">
            <a:avLst/>
          </a:prstGeom>
          <a:noFill/>
          <a:ln/>
        </p:spPr>
        <p:txBody>
          <a:bodyPr wrap="square" lIns="0" tIns="0" rIns="0" bIns="0" rtlCol="0" anchor="t"/>
          <a:lstStyle/>
          <a:p>
            <a:pPr indent="0" marL="0">
              <a:buNone/>
            </a:pPr>
            <a:r>
              <a:rPr lang="en-US" sz="1900" b="1" dirty="0">
                <a:solidFill>
                  <a:schemeClr val="bg1"/>
                </a:solidFill>
              </a:rPr>
              <a:t>Otomotiv şanzıman</a:t>
            </a:r>
            <a:endParaRPr lang="en-US" sz="1900" dirty="0"/>
          </a:p>
        </p:txBody>
      </p:sp>
      <p:sp>
        <p:nvSpPr>
          <p:cNvPr id="13" name="Text 9"/>
          <p:cNvSpPr txBox="1"/>
          <p:nvPr/>
        </p:nvSpPr>
        <p:spPr>
          <a:xfrm>
            <a:off x="4654296" y="3246120"/>
            <a:ext cx="2971800" cy="411480"/>
          </a:xfrm>
          <a:prstGeom prst="rect">
            <a:avLst/>
          </a:prstGeom>
          <a:noFill/>
          <a:ln/>
        </p:spPr>
        <p:txBody>
          <a:bodyPr wrap="square" lIns="0" tIns="0" rIns="0" bIns="0" rtlCol="0" anchor="t"/>
          <a:lstStyle/>
          <a:p>
            <a:pPr indent="0" marL="0">
              <a:buNone/>
            </a:pPr>
            <a:r>
              <a:rPr lang="en-US" sz="1400" dirty="0">
                <a:solidFill>
                  <a:schemeClr val="accent6"/>
                </a:solidFill>
              </a:rPr>
              <a:t>Senkron kovanları, iç dişli kavrama parçaları</a:t>
            </a:r>
            <a:endParaRPr lang="en-US" sz="1400" dirty="0"/>
          </a:p>
        </p:txBody>
      </p:sp>
      <p:sp>
        <p:nvSpPr>
          <p:cNvPr id="14" name="app-card Robotik"/>
          <p:cNvSpPr/>
          <p:nvPr/>
        </p:nvSpPr>
        <p:spPr>
          <a:xfrm>
            <a:off x="8119872" y="1783080"/>
            <a:ext cx="3520440" cy="1965960"/>
          </a:xfrm>
          <a:prstGeom prst="roundRect">
            <a:avLst>
              <a:gd name="adj" fmla="val 5581"/>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5" name="icon-ring FaRobot"/>
          <p:cNvSpPr/>
          <p:nvPr/>
        </p:nvSpPr>
        <p:spPr>
          <a:xfrm>
            <a:off x="8439912" y="2103120"/>
            <a:ext cx="658368" cy="658368"/>
          </a:xfrm>
          <a:prstGeom prst="ellipse">
            <a:avLst/>
          </a:prstGeom>
          <a:solidFill>
            <a:schemeClr val="tx2"/>
          </a:solidFill>
          <a:ln w="19050">
            <a:solidFill>
              <a:schemeClr val="accent1"/>
            </a:solidFill>
            <a:prstDash val="solid"/>
          </a:ln>
        </p:spPr>
      </p:sp>
      <p:pic>
        <p:nvPicPr>
          <p:cNvPr id="16" name="icon FaRobot" descr="/home/claude/deck/assets/FaRobot-orange.png">    </p:cNvPr>
          <p:cNvPicPr>
            <a:picLocks noChangeAspect="1"/>
          </p:cNvPicPr>
          <p:nvPr/>
        </p:nvPicPr>
        <p:blipFill>
          <a:blip r:embed="rId3"/>
          <a:stretch>
            <a:fillRect/>
          </a:stretch>
        </p:blipFill>
        <p:spPr>
          <a:xfrm>
            <a:off x="8604504" y="2267712"/>
            <a:ext cx="329184" cy="329184"/>
          </a:xfrm>
          <a:prstGeom prst="rect">
            <a:avLst/>
          </a:prstGeom>
        </p:spPr>
      </p:pic>
      <p:sp>
        <p:nvSpPr>
          <p:cNvPr id="17" name="Text 12"/>
          <p:cNvSpPr txBox="1"/>
          <p:nvPr/>
        </p:nvSpPr>
        <p:spPr>
          <a:xfrm>
            <a:off x="8439912" y="2880360"/>
            <a:ext cx="2971800" cy="365760"/>
          </a:xfrm>
          <a:prstGeom prst="rect">
            <a:avLst/>
          </a:prstGeom>
          <a:noFill/>
          <a:ln/>
        </p:spPr>
        <p:txBody>
          <a:bodyPr wrap="square" lIns="0" tIns="0" rIns="0" bIns="0" rtlCol="0" anchor="t"/>
          <a:lstStyle/>
          <a:p>
            <a:pPr indent="0" marL="0">
              <a:buNone/>
            </a:pPr>
            <a:r>
              <a:rPr lang="en-US" sz="1900" b="1" dirty="0">
                <a:solidFill>
                  <a:schemeClr val="bg1"/>
                </a:solidFill>
              </a:rPr>
              <a:t>Robotik</a:t>
            </a:r>
            <a:endParaRPr lang="en-US" sz="1900" dirty="0"/>
          </a:p>
        </p:txBody>
      </p:sp>
      <p:sp>
        <p:nvSpPr>
          <p:cNvPr id="18" name="Text 13"/>
          <p:cNvSpPr txBox="1"/>
          <p:nvPr/>
        </p:nvSpPr>
        <p:spPr>
          <a:xfrm>
            <a:off x="8439912" y="3246120"/>
            <a:ext cx="2971800" cy="411480"/>
          </a:xfrm>
          <a:prstGeom prst="rect">
            <a:avLst/>
          </a:prstGeom>
          <a:noFill/>
          <a:ln/>
        </p:spPr>
        <p:txBody>
          <a:bodyPr wrap="square" lIns="0" tIns="0" rIns="0" bIns="0" rtlCol="0" anchor="t"/>
          <a:lstStyle/>
          <a:p>
            <a:pPr indent="0" marL="0">
              <a:buNone/>
            </a:pPr>
            <a:r>
              <a:rPr lang="en-US" sz="1400" dirty="0">
                <a:solidFill>
                  <a:schemeClr val="accent6"/>
                </a:solidFill>
              </a:rPr>
              <a:t>Planet ve harmonik redüktör dişlileri</a:t>
            </a:r>
            <a:endParaRPr lang="en-US" sz="1400" dirty="0"/>
          </a:p>
        </p:txBody>
      </p:sp>
      <p:sp>
        <p:nvSpPr>
          <p:cNvPr id="19" name="app-card Havacılık"/>
          <p:cNvSpPr/>
          <p:nvPr/>
        </p:nvSpPr>
        <p:spPr>
          <a:xfrm>
            <a:off x="548640" y="4069080"/>
            <a:ext cx="3520440" cy="1965960"/>
          </a:xfrm>
          <a:prstGeom prst="roundRect">
            <a:avLst>
              <a:gd name="adj" fmla="val 5581"/>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0" name="icon-ring FaPlane"/>
          <p:cNvSpPr/>
          <p:nvPr/>
        </p:nvSpPr>
        <p:spPr>
          <a:xfrm>
            <a:off x="868680" y="4389120"/>
            <a:ext cx="658368" cy="658368"/>
          </a:xfrm>
          <a:prstGeom prst="ellipse">
            <a:avLst/>
          </a:prstGeom>
          <a:solidFill>
            <a:schemeClr val="tx2"/>
          </a:solidFill>
          <a:ln w="19050">
            <a:solidFill>
              <a:schemeClr val="accent1"/>
            </a:solidFill>
            <a:prstDash val="solid"/>
          </a:ln>
        </p:spPr>
      </p:sp>
      <p:pic>
        <p:nvPicPr>
          <p:cNvPr id="21" name="icon FaPlane" descr="/home/claude/deck/assets/FaPlane-orange.png">    </p:cNvPr>
          <p:cNvPicPr>
            <a:picLocks noChangeAspect="1"/>
          </p:cNvPicPr>
          <p:nvPr/>
        </p:nvPicPr>
        <p:blipFill>
          <a:blip r:embed="rId4"/>
          <a:stretch>
            <a:fillRect/>
          </a:stretch>
        </p:blipFill>
        <p:spPr>
          <a:xfrm>
            <a:off x="1033272" y="4553712"/>
            <a:ext cx="329184" cy="329184"/>
          </a:xfrm>
          <a:prstGeom prst="rect">
            <a:avLst/>
          </a:prstGeom>
        </p:spPr>
      </p:pic>
      <p:sp>
        <p:nvSpPr>
          <p:cNvPr id="22" name="Text 16"/>
          <p:cNvSpPr txBox="1"/>
          <p:nvPr/>
        </p:nvSpPr>
        <p:spPr>
          <a:xfrm>
            <a:off x="868680" y="5166360"/>
            <a:ext cx="2971800" cy="365760"/>
          </a:xfrm>
          <a:prstGeom prst="rect">
            <a:avLst/>
          </a:prstGeom>
          <a:noFill/>
          <a:ln/>
        </p:spPr>
        <p:txBody>
          <a:bodyPr wrap="square" lIns="0" tIns="0" rIns="0" bIns="0" rtlCol="0" anchor="t"/>
          <a:lstStyle/>
          <a:p>
            <a:pPr indent="0" marL="0">
              <a:buNone/>
            </a:pPr>
            <a:r>
              <a:rPr lang="en-US" sz="1900" b="1" dirty="0">
                <a:solidFill>
                  <a:schemeClr val="bg1"/>
                </a:solidFill>
              </a:rPr>
              <a:t>Havacılık</a:t>
            </a:r>
            <a:endParaRPr lang="en-US" sz="1900" dirty="0"/>
          </a:p>
        </p:txBody>
      </p:sp>
      <p:sp>
        <p:nvSpPr>
          <p:cNvPr id="23" name="Text 17"/>
          <p:cNvSpPr txBox="1"/>
          <p:nvPr/>
        </p:nvSpPr>
        <p:spPr>
          <a:xfrm>
            <a:off x="868680" y="5532120"/>
            <a:ext cx="2971800" cy="411480"/>
          </a:xfrm>
          <a:prstGeom prst="rect">
            <a:avLst/>
          </a:prstGeom>
          <a:noFill/>
          <a:ln/>
        </p:spPr>
        <p:txBody>
          <a:bodyPr wrap="square" lIns="0" tIns="0" rIns="0" bIns="0" rtlCol="0" anchor="t"/>
          <a:lstStyle/>
          <a:p>
            <a:pPr indent="0" marL="0">
              <a:buNone/>
            </a:pPr>
            <a:r>
              <a:rPr lang="en-US" sz="1400" dirty="0">
                <a:solidFill>
                  <a:schemeClr val="accent6"/>
                </a:solidFill>
              </a:rPr>
              <a:t>Aktüatör dişlileri ve kamalı bağlantılar</a:t>
            </a:r>
            <a:endParaRPr lang="en-US" sz="1400" dirty="0"/>
          </a:p>
        </p:txBody>
      </p:sp>
      <p:sp>
        <p:nvSpPr>
          <p:cNvPr id="24" name="app-card Tarım ve iş makineleri"/>
          <p:cNvSpPr/>
          <p:nvPr/>
        </p:nvSpPr>
        <p:spPr>
          <a:xfrm>
            <a:off x="4334256" y="4069080"/>
            <a:ext cx="3520440" cy="1965960"/>
          </a:xfrm>
          <a:prstGeom prst="roundRect">
            <a:avLst>
              <a:gd name="adj" fmla="val 5581"/>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5" name="icon-ring FaTractor"/>
          <p:cNvSpPr/>
          <p:nvPr/>
        </p:nvSpPr>
        <p:spPr>
          <a:xfrm>
            <a:off x="4654296" y="4389120"/>
            <a:ext cx="658368" cy="658368"/>
          </a:xfrm>
          <a:prstGeom prst="ellipse">
            <a:avLst/>
          </a:prstGeom>
          <a:solidFill>
            <a:schemeClr val="tx2"/>
          </a:solidFill>
          <a:ln w="19050">
            <a:solidFill>
              <a:schemeClr val="accent1"/>
            </a:solidFill>
            <a:prstDash val="solid"/>
          </a:ln>
        </p:spPr>
      </p:sp>
      <p:pic>
        <p:nvPicPr>
          <p:cNvPr id="26" name="icon FaTractor" descr="/home/claude/deck/assets/FaTractor-orange.png">    </p:cNvPr>
          <p:cNvPicPr>
            <a:picLocks noChangeAspect="1"/>
          </p:cNvPicPr>
          <p:nvPr/>
        </p:nvPicPr>
        <p:blipFill>
          <a:blip r:embed="rId5"/>
          <a:stretch>
            <a:fillRect/>
          </a:stretch>
        </p:blipFill>
        <p:spPr>
          <a:xfrm>
            <a:off x="4818888" y="4553712"/>
            <a:ext cx="329184" cy="329184"/>
          </a:xfrm>
          <a:prstGeom prst="rect">
            <a:avLst/>
          </a:prstGeom>
        </p:spPr>
      </p:pic>
      <p:sp>
        <p:nvSpPr>
          <p:cNvPr id="27" name="Text 20"/>
          <p:cNvSpPr txBox="1"/>
          <p:nvPr/>
        </p:nvSpPr>
        <p:spPr>
          <a:xfrm>
            <a:off x="4654296" y="5166360"/>
            <a:ext cx="2971800" cy="365760"/>
          </a:xfrm>
          <a:prstGeom prst="rect">
            <a:avLst/>
          </a:prstGeom>
          <a:noFill/>
          <a:ln/>
        </p:spPr>
        <p:txBody>
          <a:bodyPr wrap="square" lIns="0" tIns="0" rIns="0" bIns="0" rtlCol="0" anchor="t"/>
          <a:lstStyle/>
          <a:p>
            <a:pPr indent="0" marL="0">
              <a:buNone/>
            </a:pPr>
            <a:r>
              <a:rPr lang="en-US" sz="1900" b="1" dirty="0">
                <a:solidFill>
                  <a:schemeClr val="bg1"/>
                </a:solidFill>
              </a:rPr>
              <a:t>Tarım ve iş makineleri</a:t>
            </a:r>
            <a:endParaRPr lang="en-US" sz="1900" dirty="0"/>
          </a:p>
        </p:txBody>
      </p:sp>
      <p:sp>
        <p:nvSpPr>
          <p:cNvPr id="28" name="Text 21"/>
          <p:cNvSpPr txBox="1"/>
          <p:nvPr/>
        </p:nvSpPr>
        <p:spPr>
          <a:xfrm>
            <a:off x="4654296" y="5532120"/>
            <a:ext cx="2971800" cy="411480"/>
          </a:xfrm>
          <a:prstGeom prst="rect">
            <a:avLst/>
          </a:prstGeom>
          <a:noFill/>
          <a:ln/>
        </p:spPr>
        <p:txBody>
          <a:bodyPr wrap="square" lIns="0" tIns="0" rIns="0" bIns="0" rtlCol="0" anchor="t"/>
          <a:lstStyle/>
          <a:p>
            <a:pPr indent="0" marL="0">
              <a:buNone/>
            </a:pPr>
            <a:r>
              <a:rPr lang="en-US" sz="1400" dirty="0">
                <a:solidFill>
                  <a:schemeClr val="accent6"/>
                </a:solidFill>
              </a:rPr>
              <a:t>Ağır hizmet şanzıman ve göbek dişlileri</a:t>
            </a:r>
            <a:endParaRPr lang="en-US" sz="1400" dirty="0"/>
          </a:p>
        </p:txBody>
      </p:sp>
      <p:sp>
        <p:nvSpPr>
          <p:cNvPr id="29" name="app-card Genel makine"/>
          <p:cNvSpPr/>
          <p:nvPr/>
        </p:nvSpPr>
        <p:spPr>
          <a:xfrm>
            <a:off x="8119872" y="4069080"/>
            <a:ext cx="3520440" cy="1965960"/>
          </a:xfrm>
          <a:prstGeom prst="roundRect">
            <a:avLst>
              <a:gd name="adj" fmla="val 5581"/>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30" name="icon-ring FaIndustry"/>
          <p:cNvSpPr/>
          <p:nvPr/>
        </p:nvSpPr>
        <p:spPr>
          <a:xfrm>
            <a:off x="8439912" y="4389120"/>
            <a:ext cx="658368" cy="658368"/>
          </a:xfrm>
          <a:prstGeom prst="ellipse">
            <a:avLst/>
          </a:prstGeom>
          <a:solidFill>
            <a:schemeClr val="tx2"/>
          </a:solidFill>
          <a:ln w="19050">
            <a:solidFill>
              <a:schemeClr val="accent1"/>
            </a:solidFill>
            <a:prstDash val="solid"/>
          </a:ln>
        </p:spPr>
      </p:sp>
      <p:pic>
        <p:nvPicPr>
          <p:cNvPr id="31" name="icon FaIndustry" descr="/home/claude/deck/assets/FaIndustry-orange.png">    </p:cNvPr>
          <p:cNvPicPr>
            <a:picLocks noChangeAspect="1"/>
          </p:cNvPicPr>
          <p:nvPr/>
        </p:nvPicPr>
        <p:blipFill>
          <a:blip r:embed="rId6"/>
          <a:stretch>
            <a:fillRect/>
          </a:stretch>
        </p:blipFill>
        <p:spPr>
          <a:xfrm>
            <a:off x="8604504" y="4553712"/>
            <a:ext cx="329184" cy="329184"/>
          </a:xfrm>
          <a:prstGeom prst="rect">
            <a:avLst/>
          </a:prstGeom>
        </p:spPr>
      </p:pic>
      <p:sp>
        <p:nvSpPr>
          <p:cNvPr id="32" name="Text 24"/>
          <p:cNvSpPr txBox="1"/>
          <p:nvPr/>
        </p:nvSpPr>
        <p:spPr>
          <a:xfrm>
            <a:off x="8439912" y="5166360"/>
            <a:ext cx="2971800" cy="365760"/>
          </a:xfrm>
          <a:prstGeom prst="rect">
            <a:avLst/>
          </a:prstGeom>
          <a:noFill/>
          <a:ln/>
        </p:spPr>
        <p:txBody>
          <a:bodyPr wrap="square" lIns="0" tIns="0" rIns="0" bIns="0" rtlCol="0" anchor="t"/>
          <a:lstStyle/>
          <a:p>
            <a:pPr indent="0" marL="0">
              <a:buNone/>
            </a:pPr>
            <a:r>
              <a:rPr lang="en-US" sz="1900" b="1" dirty="0">
                <a:solidFill>
                  <a:schemeClr val="bg1"/>
                </a:solidFill>
              </a:rPr>
              <a:t>Genel makine</a:t>
            </a:r>
            <a:endParaRPr lang="en-US" sz="1900" dirty="0"/>
          </a:p>
        </p:txBody>
      </p:sp>
      <p:sp>
        <p:nvSpPr>
          <p:cNvPr id="33" name="Text 25"/>
          <p:cNvSpPr txBox="1"/>
          <p:nvPr/>
        </p:nvSpPr>
        <p:spPr>
          <a:xfrm>
            <a:off x="8439912" y="5532120"/>
            <a:ext cx="2971800" cy="411480"/>
          </a:xfrm>
          <a:prstGeom prst="rect">
            <a:avLst/>
          </a:prstGeom>
          <a:noFill/>
          <a:ln/>
        </p:spPr>
        <p:txBody>
          <a:bodyPr wrap="square" lIns="0" tIns="0" rIns="0" bIns="0" rtlCol="0" anchor="t"/>
          <a:lstStyle/>
          <a:p>
            <a:pPr indent="0" marL="0">
              <a:buNone/>
            </a:pPr>
            <a:r>
              <a:rPr lang="en-US" sz="1400" dirty="0">
                <a:solidFill>
                  <a:schemeClr val="accent6"/>
                </a:solidFill>
              </a:rPr>
              <a:t>Kamalı göbekler, kaplinler, iç dişli burçlar</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06 · ZORLUKLAR</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600" b="1" dirty="0">
                <a:solidFill>
                  <a:schemeClr val="bg1"/>
                </a:solidFill>
              </a:rPr>
              <a:t>Dikkat edilmesi gerekenler</a:t>
            </a:r>
            <a:endParaRPr lang="en-US" sz="3600" dirty="0"/>
          </a:p>
        </p:txBody>
      </p:sp>
      <p:sp>
        <p:nvSpPr>
          <p:cNvPr id="4" name="challenge Takım aşınması"/>
          <p:cNvSpPr/>
          <p:nvPr/>
        </p:nvSpPr>
        <p:spPr>
          <a:xfrm>
            <a:off x="548640" y="1783080"/>
            <a:ext cx="5422392"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5" name="icon-ring FaHourglassHalf"/>
          <p:cNvSpPr/>
          <p:nvPr/>
        </p:nvSpPr>
        <p:spPr>
          <a:xfrm>
            <a:off x="868680" y="2103120"/>
            <a:ext cx="566928" cy="566928"/>
          </a:xfrm>
          <a:prstGeom prst="ellipse">
            <a:avLst/>
          </a:prstGeom>
          <a:solidFill>
            <a:schemeClr val="tx2"/>
          </a:solidFill>
          <a:ln w="19050">
            <a:solidFill>
              <a:schemeClr val="accent1"/>
            </a:solidFill>
            <a:prstDash val="solid"/>
          </a:ln>
        </p:spPr>
      </p:sp>
      <p:pic>
        <p:nvPicPr>
          <p:cNvPr id="6" name="icon FaHourglassHalf" descr="/home/claude/deck/assets/FaHourglassHalf-orange.png">    </p:cNvPr>
          <p:cNvPicPr>
            <a:picLocks noChangeAspect="1"/>
          </p:cNvPicPr>
          <p:nvPr/>
        </p:nvPicPr>
        <p:blipFill>
          <a:blip r:embed="rId1"/>
          <a:stretch>
            <a:fillRect/>
          </a:stretch>
        </p:blipFill>
        <p:spPr>
          <a:xfrm>
            <a:off x="1010412" y="2244852"/>
            <a:ext cx="283464" cy="283464"/>
          </a:xfrm>
          <a:prstGeom prst="rect">
            <a:avLst/>
          </a:prstGeom>
        </p:spPr>
      </p:pic>
      <p:sp>
        <p:nvSpPr>
          <p:cNvPr id="7" name="Text 4"/>
          <p:cNvSpPr txBox="1"/>
          <p:nvPr/>
        </p:nvSpPr>
        <p:spPr>
          <a:xfrm>
            <a:off x="1645920" y="2130552"/>
            <a:ext cx="4050792" cy="365760"/>
          </a:xfrm>
          <a:prstGeom prst="rect">
            <a:avLst/>
          </a:prstGeom>
          <a:noFill/>
          <a:ln/>
        </p:spPr>
        <p:txBody>
          <a:bodyPr wrap="square" lIns="0" tIns="0" rIns="0" bIns="0" rtlCol="0" anchor="t"/>
          <a:lstStyle/>
          <a:p>
            <a:pPr indent="0" marL="0">
              <a:buNone/>
            </a:pPr>
            <a:r>
              <a:rPr lang="en-US" sz="1900" b="1" dirty="0">
                <a:solidFill>
                  <a:schemeClr val="bg1"/>
                </a:solidFill>
              </a:rPr>
              <a:t>Takım aşınması</a:t>
            </a:r>
            <a:endParaRPr lang="en-US" sz="1900" dirty="0"/>
          </a:p>
        </p:txBody>
      </p:sp>
      <p:sp>
        <p:nvSpPr>
          <p:cNvPr id="8" name="Text 5"/>
          <p:cNvSpPr txBox="1"/>
          <p:nvPr/>
        </p:nvSpPr>
        <p:spPr>
          <a:xfrm>
            <a:off x="1645920" y="2532888"/>
            <a:ext cx="4050792" cy="640080"/>
          </a:xfrm>
          <a:prstGeom prst="rect">
            <a:avLst/>
          </a:prstGeom>
          <a:noFill/>
          <a:ln/>
        </p:spPr>
        <p:txBody>
          <a:bodyPr wrap="square" lIns="0" tIns="0" rIns="0" bIns="0" rtlCol="0" anchor="t"/>
          <a:lstStyle/>
          <a:p>
            <a:pPr indent="0" marL="0">
              <a:buNone/>
            </a:pPr>
            <a:r>
              <a:rPr lang="en-US" sz="1400" dirty="0">
                <a:solidFill>
                  <a:schemeClr val="accent6"/>
                </a:solidFill>
              </a:rPr>
              <a:t>Değişken talaş açısı ve yüksek kayma hızı aşınmayı hızlandırır.</a:t>
            </a:r>
            <a:endParaRPr lang="en-US" sz="1400" dirty="0"/>
          </a:p>
        </p:txBody>
      </p:sp>
      <p:sp>
        <p:nvSpPr>
          <p:cNvPr id="9" name="Text 6"/>
          <p:cNvSpPr txBox="1"/>
          <p:nvPr/>
        </p:nvSpPr>
        <p:spPr>
          <a:xfrm>
            <a:off x="1645920" y="3200400"/>
            <a:ext cx="4050792" cy="457200"/>
          </a:xfrm>
          <a:prstGeom prst="rect">
            <a:avLst/>
          </a:prstGeom>
          <a:noFill/>
          <a:ln/>
        </p:spPr>
        <p:txBody>
          <a:bodyPr wrap="square" lIns="0" tIns="0" rIns="0" bIns="0" rtlCol="0" anchor="t"/>
          <a:lstStyle/>
          <a:p>
            <a:pPr indent="0" marL="0">
              <a:buNone/>
            </a:pPr>
            <a:r>
              <a:rPr lang="en-US" sz="1400" b="1" dirty="0">
                <a:solidFill>
                  <a:schemeClr val="accent3"/>
                </a:solidFill>
              </a:rPr>
              <a:t>Çözüm  </a:t>
            </a:r>
            <a:pPr indent="0" marL="0">
              <a:buNone/>
            </a:pPr>
            <a:r>
              <a:rPr lang="en-US" sz="1400" dirty="0">
                <a:solidFill>
                  <a:schemeClr val="bg2"/>
                </a:solidFill>
              </a:rPr>
              <a:t>Uygun kaplama, optimize Σ ve paso dağılımı</a:t>
            </a:r>
            <a:endParaRPr lang="en-US" sz="1400" dirty="0"/>
          </a:p>
        </p:txBody>
      </p:sp>
      <p:sp>
        <p:nvSpPr>
          <p:cNvPr id="10" name="challenge Titreşim"/>
          <p:cNvSpPr/>
          <p:nvPr/>
        </p:nvSpPr>
        <p:spPr>
          <a:xfrm>
            <a:off x="6217920" y="1783080"/>
            <a:ext cx="5422392"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1" name="icon-ring FaChartLine"/>
          <p:cNvSpPr/>
          <p:nvPr/>
        </p:nvSpPr>
        <p:spPr>
          <a:xfrm>
            <a:off x="6537960" y="2103120"/>
            <a:ext cx="566928" cy="566928"/>
          </a:xfrm>
          <a:prstGeom prst="ellipse">
            <a:avLst/>
          </a:prstGeom>
          <a:solidFill>
            <a:schemeClr val="tx2"/>
          </a:solidFill>
          <a:ln w="19050">
            <a:solidFill>
              <a:schemeClr val="accent1"/>
            </a:solidFill>
            <a:prstDash val="solid"/>
          </a:ln>
        </p:spPr>
      </p:sp>
      <p:pic>
        <p:nvPicPr>
          <p:cNvPr id="12" name="icon FaChartLine" descr="/home/claude/deck/assets/FaChartLine-orange.png">    </p:cNvPr>
          <p:cNvPicPr>
            <a:picLocks noChangeAspect="1"/>
          </p:cNvPicPr>
          <p:nvPr/>
        </p:nvPicPr>
        <p:blipFill>
          <a:blip r:embed="rId2"/>
          <a:stretch>
            <a:fillRect/>
          </a:stretch>
        </p:blipFill>
        <p:spPr>
          <a:xfrm>
            <a:off x="6679692" y="2244852"/>
            <a:ext cx="283464" cy="283464"/>
          </a:xfrm>
          <a:prstGeom prst="rect">
            <a:avLst/>
          </a:prstGeom>
        </p:spPr>
      </p:pic>
      <p:sp>
        <p:nvSpPr>
          <p:cNvPr id="13" name="Text 9"/>
          <p:cNvSpPr txBox="1"/>
          <p:nvPr/>
        </p:nvSpPr>
        <p:spPr>
          <a:xfrm>
            <a:off x="7315200" y="2130552"/>
            <a:ext cx="4050792" cy="365760"/>
          </a:xfrm>
          <a:prstGeom prst="rect">
            <a:avLst/>
          </a:prstGeom>
          <a:noFill/>
          <a:ln/>
        </p:spPr>
        <p:txBody>
          <a:bodyPr wrap="square" lIns="0" tIns="0" rIns="0" bIns="0" rtlCol="0" anchor="t"/>
          <a:lstStyle/>
          <a:p>
            <a:pPr indent="0" marL="0">
              <a:buNone/>
            </a:pPr>
            <a:r>
              <a:rPr lang="en-US" sz="1900" b="1" dirty="0">
                <a:solidFill>
                  <a:schemeClr val="bg1"/>
                </a:solidFill>
              </a:rPr>
              <a:t>Titreşim</a:t>
            </a:r>
            <a:endParaRPr lang="en-US" sz="1900" dirty="0"/>
          </a:p>
        </p:txBody>
      </p:sp>
      <p:sp>
        <p:nvSpPr>
          <p:cNvPr id="14" name="Text 10"/>
          <p:cNvSpPr txBox="1"/>
          <p:nvPr/>
        </p:nvSpPr>
        <p:spPr>
          <a:xfrm>
            <a:off x="7315200" y="2532888"/>
            <a:ext cx="4050792" cy="640080"/>
          </a:xfrm>
          <a:prstGeom prst="rect">
            <a:avLst/>
          </a:prstGeom>
          <a:noFill/>
          <a:ln/>
        </p:spPr>
        <p:txBody>
          <a:bodyPr wrap="square" lIns="0" tIns="0" rIns="0" bIns="0" rtlCol="0" anchor="t"/>
          <a:lstStyle/>
          <a:p>
            <a:pPr indent="0" marL="0">
              <a:buNone/>
            </a:pPr>
            <a:r>
              <a:rPr lang="en-US" sz="1400" dirty="0">
                <a:solidFill>
                  <a:schemeClr val="accent6"/>
                </a:solidFill>
              </a:rPr>
              <a:t>Kesintili kesim, rijit olmayan bağlamada tırlamaya yol açar.</a:t>
            </a:r>
            <a:endParaRPr lang="en-US" sz="1400" dirty="0"/>
          </a:p>
        </p:txBody>
      </p:sp>
      <p:sp>
        <p:nvSpPr>
          <p:cNvPr id="15" name="Text 11"/>
          <p:cNvSpPr txBox="1"/>
          <p:nvPr/>
        </p:nvSpPr>
        <p:spPr>
          <a:xfrm>
            <a:off x="7315200" y="3200400"/>
            <a:ext cx="4050792" cy="457200"/>
          </a:xfrm>
          <a:prstGeom prst="rect">
            <a:avLst/>
          </a:prstGeom>
          <a:noFill/>
          <a:ln/>
        </p:spPr>
        <p:txBody>
          <a:bodyPr wrap="square" lIns="0" tIns="0" rIns="0" bIns="0" rtlCol="0" anchor="t"/>
          <a:lstStyle/>
          <a:p>
            <a:pPr indent="0" marL="0">
              <a:buNone/>
            </a:pPr>
            <a:r>
              <a:rPr lang="en-US" sz="1400" b="1" dirty="0">
                <a:solidFill>
                  <a:schemeClr val="accent3"/>
                </a:solidFill>
              </a:rPr>
              <a:t>Çözüm  </a:t>
            </a:r>
            <a:pPr indent="0" marL="0">
              <a:buNone/>
            </a:pPr>
            <a:r>
              <a:rPr lang="en-US" sz="1400" dirty="0">
                <a:solidFill>
                  <a:schemeClr val="bg2"/>
                </a:solidFill>
              </a:rPr>
              <a:t>Kısa takım uzunluğu, rijit bağlama, devir ayarı</a:t>
            </a:r>
            <a:endParaRPr lang="en-US" sz="1400" dirty="0"/>
          </a:p>
        </p:txBody>
      </p:sp>
      <p:sp>
        <p:nvSpPr>
          <p:cNvPr id="16" name="challenge Talaş tahliyesi"/>
          <p:cNvSpPr/>
          <p:nvPr/>
        </p:nvSpPr>
        <p:spPr>
          <a:xfrm>
            <a:off x="548640" y="4069080"/>
            <a:ext cx="5422392"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17" name="icon-ring FaCubes"/>
          <p:cNvSpPr/>
          <p:nvPr/>
        </p:nvSpPr>
        <p:spPr>
          <a:xfrm>
            <a:off x="868680" y="4389120"/>
            <a:ext cx="566928" cy="566928"/>
          </a:xfrm>
          <a:prstGeom prst="ellipse">
            <a:avLst/>
          </a:prstGeom>
          <a:solidFill>
            <a:schemeClr val="tx2"/>
          </a:solidFill>
          <a:ln w="19050">
            <a:solidFill>
              <a:schemeClr val="accent1"/>
            </a:solidFill>
            <a:prstDash val="solid"/>
          </a:ln>
        </p:spPr>
      </p:sp>
      <p:pic>
        <p:nvPicPr>
          <p:cNvPr id="18" name="icon FaCubes" descr="/home/claude/deck/assets/FaCubes-orange.png">    </p:cNvPr>
          <p:cNvPicPr>
            <a:picLocks noChangeAspect="1"/>
          </p:cNvPicPr>
          <p:nvPr/>
        </p:nvPicPr>
        <p:blipFill>
          <a:blip r:embed="rId3"/>
          <a:stretch>
            <a:fillRect/>
          </a:stretch>
        </p:blipFill>
        <p:spPr>
          <a:xfrm>
            <a:off x="1010412" y="4530852"/>
            <a:ext cx="283464" cy="283464"/>
          </a:xfrm>
          <a:prstGeom prst="rect">
            <a:avLst/>
          </a:prstGeom>
        </p:spPr>
      </p:pic>
      <p:sp>
        <p:nvSpPr>
          <p:cNvPr id="19" name="Text 14"/>
          <p:cNvSpPr txBox="1"/>
          <p:nvPr/>
        </p:nvSpPr>
        <p:spPr>
          <a:xfrm>
            <a:off x="1645920" y="4416552"/>
            <a:ext cx="4050792" cy="365760"/>
          </a:xfrm>
          <a:prstGeom prst="rect">
            <a:avLst/>
          </a:prstGeom>
          <a:noFill/>
          <a:ln/>
        </p:spPr>
        <p:txBody>
          <a:bodyPr wrap="square" lIns="0" tIns="0" rIns="0" bIns="0" rtlCol="0" anchor="t"/>
          <a:lstStyle/>
          <a:p>
            <a:pPr indent="0" marL="0">
              <a:buNone/>
            </a:pPr>
            <a:r>
              <a:rPr lang="en-US" sz="1900" b="1" dirty="0">
                <a:solidFill>
                  <a:schemeClr val="bg1"/>
                </a:solidFill>
              </a:rPr>
              <a:t>Talaş tahliyesi</a:t>
            </a:r>
            <a:endParaRPr lang="en-US" sz="1900" dirty="0"/>
          </a:p>
        </p:txBody>
      </p:sp>
      <p:sp>
        <p:nvSpPr>
          <p:cNvPr id="20" name="Text 15"/>
          <p:cNvSpPr txBox="1"/>
          <p:nvPr/>
        </p:nvSpPr>
        <p:spPr>
          <a:xfrm>
            <a:off x="1645920" y="4818888"/>
            <a:ext cx="4050792" cy="640080"/>
          </a:xfrm>
          <a:prstGeom prst="rect">
            <a:avLst/>
          </a:prstGeom>
          <a:noFill/>
          <a:ln/>
        </p:spPr>
        <p:txBody>
          <a:bodyPr wrap="square" lIns="0" tIns="0" rIns="0" bIns="0" rtlCol="0" anchor="t"/>
          <a:lstStyle/>
          <a:p>
            <a:pPr indent="0" marL="0">
              <a:buNone/>
            </a:pPr>
            <a:r>
              <a:rPr lang="en-US" sz="1400" dirty="0">
                <a:solidFill>
                  <a:schemeClr val="accent6"/>
                </a:solidFill>
              </a:rPr>
              <a:t>Kör iç dişlilerde talaş sıkışarak yüzeyi bozabilir.</a:t>
            </a:r>
            <a:endParaRPr lang="en-US" sz="1400" dirty="0"/>
          </a:p>
        </p:txBody>
      </p:sp>
      <p:sp>
        <p:nvSpPr>
          <p:cNvPr id="21" name="Text 16"/>
          <p:cNvSpPr txBox="1"/>
          <p:nvPr/>
        </p:nvSpPr>
        <p:spPr>
          <a:xfrm>
            <a:off x="1645920" y="5486400"/>
            <a:ext cx="4050792" cy="457200"/>
          </a:xfrm>
          <a:prstGeom prst="rect">
            <a:avLst/>
          </a:prstGeom>
          <a:noFill/>
          <a:ln/>
        </p:spPr>
        <p:txBody>
          <a:bodyPr wrap="square" lIns="0" tIns="0" rIns="0" bIns="0" rtlCol="0" anchor="t"/>
          <a:lstStyle/>
          <a:p>
            <a:pPr indent="0" marL="0">
              <a:buNone/>
            </a:pPr>
            <a:r>
              <a:rPr lang="en-US" sz="1400" b="1" dirty="0">
                <a:solidFill>
                  <a:schemeClr val="accent3"/>
                </a:solidFill>
              </a:rPr>
              <a:t>Çözüm  </a:t>
            </a:r>
            <a:pPr indent="0" marL="0">
              <a:buNone/>
            </a:pPr>
            <a:r>
              <a:rPr lang="en-US" sz="1400" dirty="0">
                <a:solidFill>
                  <a:schemeClr val="bg2"/>
                </a:solidFill>
              </a:rPr>
              <a:t>Yüksek basınçlı soğutma, kesim yönü seçimi</a:t>
            </a:r>
            <a:endParaRPr lang="en-US" sz="1400" dirty="0"/>
          </a:p>
        </p:txBody>
      </p:sp>
      <p:sp>
        <p:nvSpPr>
          <p:cNvPr id="22" name="challenge Özel takım tedariki"/>
          <p:cNvSpPr/>
          <p:nvPr/>
        </p:nvSpPr>
        <p:spPr>
          <a:xfrm>
            <a:off x="6217920" y="4069080"/>
            <a:ext cx="5422392" cy="2011680"/>
          </a:xfrm>
          <a:prstGeom prst="roundRect">
            <a:avLst>
              <a:gd name="adj" fmla="val 5455"/>
            </a:avLst>
          </a:prstGeom>
          <a:solidFill>
            <a:schemeClr val="tx2"/>
          </a:solidFill>
          <a:ln w="12700">
            <a:solidFill>
              <a:schemeClr val="accent5"/>
            </a:solidFill>
            <a:prstDash val="solid"/>
          </a:ln>
          <a:effectLst>
            <a:outerShdw sx="100000" sy="100000" kx="0" ky="0" algn="bl" rotWithShape="0" blurRad="177800" dist="50800" dir="5400000">
              <a:srgbClr val="000000">
                <a:alpha val="50000"/>
              </a:srgbClr>
            </a:outerShdw>
          </a:effectLst>
        </p:spPr>
      </p:sp>
      <p:sp>
        <p:nvSpPr>
          <p:cNvPr id="23" name="icon-ring FaClock"/>
          <p:cNvSpPr/>
          <p:nvPr/>
        </p:nvSpPr>
        <p:spPr>
          <a:xfrm>
            <a:off x="6537960" y="4389120"/>
            <a:ext cx="566928" cy="566928"/>
          </a:xfrm>
          <a:prstGeom prst="ellipse">
            <a:avLst/>
          </a:prstGeom>
          <a:solidFill>
            <a:schemeClr val="tx2"/>
          </a:solidFill>
          <a:ln w="19050">
            <a:solidFill>
              <a:schemeClr val="accent1"/>
            </a:solidFill>
            <a:prstDash val="solid"/>
          </a:ln>
        </p:spPr>
      </p:sp>
      <p:pic>
        <p:nvPicPr>
          <p:cNvPr id="24" name="icon FaClock" descr="/home/claude/deck/assets/FaClock-orange.png">    </p:cNvPr>
          <p:cNvPicPr>
            <a:picLocks noChangeAspect="1"/>
          </p:cNvPicPr>
          <p:nvPr/>
        </p:nvPicPr>
        <p:blipFill>
          <a:blip r:embed="rId4"/>
          <a:stretch>
            <a:fillRect/>
          </a:stretch>
        </p:blipFill>
        <p:spPr>
          <a:xfrm>
            <a:off x="6679692" y="4530852"/>
            <a:ext cx="283464" cy="283464"/>
          </a:xfrm>
          <a:prstGeom prst="rect">
            <a:avLst/>
          </a:prstGeom>
        </p:spPr>
      </p:pic>
      <p:sp>
        <p:nvSpPr>
          <p:cNvPr id="25" name="Text 19"/>
          <p:cNvSpPr txBox="1"/>
          <p:nvPr/>
        </p:nvSpPr>
        <p:spPr>
          <a:xfrm>
            <a:off x="7315200" y="4416552"/>
            <a:ext cx="4050792" cy="365760"/>
          </a:xfrm>
          <a:prstGeom prst="rect">
            <a:avLst/>
          </a:prstGeom>
          <a:noFill/>
          <a:ln/>
        </p:spPr>
        <p:txBody>
          <a:bodyPr wrap="square" lIns="0" tIns="0" rIns="0" bIns="0" rtlCol="0" anchor="t"/>
          <a:lstStyle/>
          <a:p>
            <a:pPr indent="0" marL="0">
              <a:buNone/>
            </a:pPr>
            <a:r>
              <a:rPr lang="en-US" sz="1900" b="1" dirty="0">
                <a:solidFill>
                  <a:schemeClr val="bg1"/>
                </a:solidFill>
              </a:rPr>
              <a:t>Özel takım tedariki</a:t>
            </a:r>
            <a:endParaRPr lang="en-US" sz="1900" dirty="0"/>
          </a:p>
        </p:txBody>
      </p:sp>
      <p:sp>
        <p:nvSpPr>
          <p:cNvPr id="26" name="Text 20"/>
          <p:cNvSpPr txBox="1"/>
          <p:nvPr/>
        </p:nvSpPr>
        <p:spPr>
          <a:xfrm>
            <a:off x="7315200" y="4818888"/>
            <a:ext cx="4050792" cy="640080"/>
          </a:xfrm>
          <a:prstGeom prst="rect">
            <a:avLst/>
          </a:prstGeom>
          <a:noFill/>
          <a:ln/>
        </p:spPr>
        <p:txBody>
          <a:bodyPr wrap="square" lIns="0" tIns="0" rIns="0" bIns="0" rtlCol="0" anchor="t"/>
          <a:lstStyle/>
          <a:p>
            <a:pPr indent="0" marL="0">
              <a:buNone/>
            </a:pPr>
            <a:r>
              <a:rPr lang="en-US" sz="1400" dirty="0">
                <a:solidFill>
                  <a:schemeClr val="accent6"/>
                </a:solidFill>
              </a:rPr>
              <a:t>Takım çoğunlukla parçaya özeldir; tasarım ve teslim süresi uzundur.</a:t>
            </a:r>
            <a:endParaRPr lang="en-US" sz="1400" dirty="0"/>
          </a:p>
        </p:txBody>
      </p:sp>
      <p:sp>
        <p:nvSpPr>
          <p:cNvPr id="27" name="Text 21"/>
          <p:cNvSpPr txBox="1"/>
          <p:nvPr/>
        </p:nvSpPr>
        <p:spPr>
          <a:xfrm>
            <a:off x="7315200" y="5486400"/>
            <a:ext cx="4050792" cy="457200"/>
          </a:xfrm>
          <a:prstGeom prst="rect">
            <a:avLst/>
          </a:prstGeom>
          <a:noFill/>
          <a:ln/>
        </p:spPr>
        <p:txBody>
          <a:bodyPr wrap="square" lIns="0" tIns="0" rIns="0" bIns="0" rtlCol="0" anchor="t"/>
          <a:lstStyle/>
          <a:p>
            <a:pPr indent="0" marL="0">
              <a:buNone/>
            </a:pPr>
            <a:r>
              <a:rPr lang="en-US" sz="1400" b="1" dirty="0">
                <a:solidFill>
                  <a:schemeClr val="accent3"/>
                </a:solidFill>
              </a:rPr>
              <a:t>Çözüm  </a:t>
            </a:r>
            <a:pPr indent="0" marL="0">
              <a:buNone/>
            </a:pPr>
            <a:r>
              <a:rPr lang="en-US" sz="1400" dirty="0">
                <a:solidFill>
                  <a:schemeClr val="bg2"/>
                </a:solidFill>
              </a:rPr>
              <a:t>Erken takım tasarımı ve simülasyon</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1"/>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1188720"/>
            <a:ext cx="82296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ÖZET</a:t>
            </a:r>
            <a:endParaRPr lang="en-US" sz="1200" dirty="0"/>
          </a:p>
        </p:txBody>
      </p:sp>
      <p:sp>
        <p:nvSpPr>
          <p:cNvPr id="3" name="Text 0"/>
          <p:cNvSpPr/>
          <p:nvPr>
            <p:ph idx="100" type="title" hasCustomPrompt="1"/>
          </p:nvPr>
        </p:nvSpPr>
        <p:spPr>
          <a:xfrm>
            <a:off x="640080" y="1508760"/>
            <a:ext cx="6949440" cy="2377440"/>
          </a:xfrm>
          <a:prstGeom prst="rect">
            <a:avLst/>
          </a:prstGeom>
          <a:noFill/>
          <a:ln/>
        </p:spPr>
        <p:txBody>
          <a:bodyPr wrap="square" lIns="0" tIns="0" rIns="0" bIns="0" rtlCol="0" anchor="t"/>
          <a:lstStyle/>
          <a:p>
            <a:pPr algn="l" indent="0" marL="0">
              <a:buNone/>
            </a:pPr>
            <a:r>
              <a:rPr lang="en-US" sz="4800" b="1" dirty="0">
                <a:solidFill>
                  <a:schemeClr val="accent1"/>
                </a:solidFill>
              </a:rPr>
              <a:t>Hız</a:t>
            </a:r>
            <a:endParaRPr lang="en-US" sz="4800" dirty="0"/>
          </a:p>
          <a:p>
            <a:pPr algn="l" indent="0" marL="0">
              <a:buNone/>
            </a:pPr>
            <a:r>
              <a:rPr lang="en-US" sz="4800" b="1" dirty="0">
                <a:solidFill>
                  <a:schemeClr val="accent2"/>
                </a:solidFill>
              </a:rPr>
              <a:t>Esneklik</a:t>
            </a:r>
            <a:endParaRPr lang="en-US" sz="4800" dirty="0"/>
          </a:p>
          <a:p>
            <a:pPr algn="l" indent="0" marL="0">
              <a:buNone/>
            </a:pPr>
            <a:r>
              <a:rPr lang="en-US" sz="4800" b="1" dirty="0">
                <a:solidFill>
                  <a:schemeClr val="bg1"/>
                </a:solidFill>
              </a:rPr>
              <a:t>Tek bağlama</a:t>
            </a:r>
            <a:endParaRPr lang="en-US" sz="4800" dirty="0"/>
          </a:p>
        </p:txBody>
      </p:sp>
      <p:sp>
        <p:nvSpPr>
          <p:cNvPr id="4" name="Text 2"/>
          <p:cNvSpPr txBox="1"/>
          <p:nvPr/>
        </p:nvSpPr>
        <p:spPr>
          <a:xfrm>
            <a:off x="640080" y="4114800"/>
            <a:ext cx="5852160" cy="914400"/>
          </a:xfrm>
          <a:prstGeom prst="rect">
            <a:avLst/>
          </a:prstGeom>
          <a:noFill/>
          <a:ln/>
        </p:spPr>
        <p:txBody>
          <a:bodyPr wrap="square" lIns="0" tIns="0" rIns="0" bIns="0" rtlCol="0" anchor="t"/>
          <a:lstStyle/>
          <a:p>
            <a:pPr indent="0" marL="0">
              <a:buNone/>
            </a:pPr>
            <a:r>
              <a:rPr lang="en-US" sz="1700" dirty="0">
                <a:solidFill>
                  <a:schemeClr val="bg2"/>
                </a:solidFill>
              </a:rPr>
              <a:t>Gear skiving, iç dişli imalatında broşlama ve vargele güçlü bir alternatif; doğru takım, tezgah ve strateji ile verimlilikte büyük sıçrama sağlar.</a:t>
            </a:r>
            <a:endParaRPr lang="en-US" sz="1700" dirty="0"/>
          </a:p>
        </p:txBody>
      </p:sp>
      <p:sp>
        <p:nvSpPr>
          <p:cNvPr id="5" name="Text 3"/>
          <p:cNvSpPr txBox="1"/>
          <p:nvPr/>
        </p:nvSpPr>
        <p:spPr>
          <a:xfrm>
            <a:off x="640080" y="5257800"/>
            <a:ext cx="5486400" cy="548640"/>
          </a:xfrm>
          <a:prstGeom prst="rect">
            <a:avLst/>
          </a:prstGeom>
          <a:noFill/>
          <a:ln/>
        </p:spPr>
        <p:txBody>
          <a:bodyPr wrap="square" lIns="0" tIns="0" rIns="0" bIns="0" rtlCol="0" anchor="t"/>
          <a:lstStyle/>
          <a:p>
            <a:pPr indent="0" marL="0">
              <a:buNone/>
            </a:pPr>
            <a:r>
              <a:rPr lang="en-US" sz="2800" b="1" dirty="0">
                <a:solidFill>
                  <a:schemeClr val="accent3"/>
                </a:solidFill>
              </a:rPr>
              <a:t>Teşekkürler  ·  Sorular?</a:t>
            </a:r>
            <a:endParaRPr lang="en-US" sz="2800" dirty="0"/>
          </a:p>
        </p:txBody>
      </p:sp>
    </p:spTree>
  </p:cSld>
  <p:clrMapOvr>
    <a:masterClrMapping/>
  </p:clrMapOvr>
</p:sld>
</file>

<file path=ppt/theme/theme1.xml><?xml version="1.0" encoding="utf-8"?>
<a:theme xmlns:a="http://schemas.openxmlformats.org/drawingml/2006/main" name="Skiving Forge">
  <a:themeElements>
    <a:clrScheme name="Skiving Forge">
      <a:dk1>
        <a:srgbClr val="0B0F17"/>
      </a:dk1>
      <a:lt1>
        <a:srgbClr val="FFFFFF"/>
      </a:lt1>
      <a:dk2>
        <a:srgbClr val="141C2B"/>
      </a:dk2>
      <a:lt2>
        <a:srgbClr val="E8ECF2"/>
      </a:lt2>
      <a:accent1>
        <a:srgbClr val="FF6A1A"/>
      </a:accent1>
      <a:accent2>
        <a:srgbClr val="FFB347"/>
      </a:accent2>
      <a:accent3>
        <a:srgbClr val="21D4FD"/>
      </a:accent3>
      <a:accent4>
        <a:srgbClr val="7A8BA6"/>
      </a:accent4>
      <a:accent5>
        <a:srgbClr val="26324A"/>
      </a:accent5>
      <a:accent6>
        <a:srgbClr val="B8C2D6"/>
      </a:accent6>
      <a:hlink>
        <a:srgbClr val="21D4FD"/>
      </a:hlink>
      <a:folHlink>
        <a:srgbClr val="FFB347"/>
      </a:folHlink>
    </a:clrScheme>
    <a:fontScheme name="Skiving Forg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Gear Skiving</dc:title>
  <dc:subject>Power skiving ile dişli imalatı</dc:subject>
  <dc:creator>PptxGenJS</dc:creator>
  <cp:lastModifiedBy>PptxGenJS</cp:lastModifiedBy>
  <cp:revision>1</cp:revision>
  <dcterms:created xsi:type="dcterms:W3CDTF">2026-10-09T15:21:55Z</dcterms:created>
  <dcterms:modified xsi:type="dcterms:W3CDTF">2026-10-09T15:21:55Z</dcterms:modified>
</cp:coreProperties>
</file>